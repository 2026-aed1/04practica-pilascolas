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7" r:id="rId4"/>
    <p:sldId id="271" r:id="rId5"/>
    <p:sldId id="259" r:id="rId6"/>
    <p:sldId id="258" r:id="rId7"/>
    <p:sldId id="279" r:id="rId8"/>
    <p:sldId id="260" r:id="rId9"/>
    <p:sldId id="288" r:id="rId10"/>
    <p:sldId id="312" r:id="rId11"/>
    <p:sldId id="313" r:id="rId12"/>
    <p:sldId id="289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154360"/>
    <a:srgbClr val="AAAAAA"/>
    <a:srgbClr val="999999"/>
    <a:srgbClr val="FFD43B"/>
    <a:srgbClr val="F1C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8814" autoAdjust="0"/>
  </p:normalViewPr>
  <p:slideViewPr>
    <p:cSldViewPr snapToGrid="0" snapToObjects="1">
      <p:cViewPr varScale="1">
        <p:scale>
          <a:sx n="83" d="100"/>
          <a:sy n="83" d="100"/>
        </p:scale>
        <p:origin x="159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REINA JIMENEZ" userId="11481fb6-70c1-4284-90c0-f8ebfd404008" providerId="ADAL" clId="{77E9FAC6-DFD0-4027-9128-ADE6749AE15C}"/>
    <pc:docChg chg="undo custSel delSld modSld">
      <pc:chgData name="PABLO REINA JIMENEZ" userId="11481fb6-70c1-4284-90c0-f8ebfd404008" providerId="ADAL" clId="{77E9FAC6-DFD0-4027-9128-ADE6749AE15C}" dt="2026-10-19T10:03:41.456" v="354" actId="20577"/>
      <pc:docMkLst>
        <pc:docMk/>
      </pc:docMkLst>
      <pc:sldChg chg="addSp delSp mod">
        <pc:chgData name="PABLO REINA JIMENEZ" userId="11481fb6-70c1-4284-90c0-f8ebfd404008" providerId="ADAL" clId="{77E9FAC6-DFD0-4027-9128-ADE6749AE15C}" dt="2026-10-13T16:16:33.785" v="3" actId="478"/>
        <pc:sldMkLst>
          <pc:docMk/>
          <pc:sldMk cId="0" sldId="256"/>
        </pc:sldMkLst>
        <pc:spChg chg="add">
          <ac:chgData name="PABLO REINA JIMENEZ" userId="11481fb6-70c1-4284-90c0-f8ebfd404008" providerId="ADAL" clId="{77E9FAC6-DFD0-4027-9128-ADE6749AE15C}" dt="2026-10-13T16:16:31.765" v="2" actId="22"/>
          <ac:spMkLst>
            <pc:docMk/>
            <pc:sldMk cId="0" sldId="256"/>
            <ac:spMk id="8" creationId="{4AA9042B-5163-D1AF-B6D0-C5310B8F994E}"/>
          </ac:spMkLst>
        </pc:spChg>
      </pc:sldChg>
      <pc:sldChg chg="modSp mod">
        <pc:chgData name="PABLO REINA JIMENEZ" userId="11481fb6-70c1-4284-90c0-f8ebfd404008" providerId="ADAL" clId="{77E9FAC6-DFD0-4027-9128-ADE6749AE15C}" dt="2026-10-13T16:39:39.072" v="277" actId="20577"/>
        <pc:sldMkLst>
          <pc:docMk/>
          <pc:sldMk cId="0" sldId="257"/>
        </pc:sldMkLst>
        <pc:spChg chg="mod">
          <ac:chgData name="PABLO REINA JIMENEZ" userId="11481fb6-70c1-4284-90c0-f8ebfd404008" providerId="ADAL" clId="{77E9FAC6-DFD0-4027-9128-ADE6749AE15C}" dt="2026-10-13T16:39:39.072" v="277" actId="20577"/>
          <ac:spMkLst>
            <pc:docMk/>
            <pc:sldMk cId="0" sldId="257"/>
            <ac:spMk id="6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18:04.390" v="72" actId="5793"/>
          <ac:spMkLst>
            <pc:docMk/>
            <pc:sldMk cId="0" sldId="257"/>
            <ac:spMk id="8" creationId="{00000000-0000-0000-0000-000000000000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3T16:39:28.089" v="274" actId="20577"/>
        <pc:sldMkLst>
          <pc:docMk/>
          <pc:sldMk cId="0" sldId="258"/>
        </pc:sldMkLst>
        <pc:spChg chg="add mod">
          <ac:chgData name="PABLO REINA JIMENEZ" userId="11481fb6-70c1-4284-90c0-f8ebfd404008" providerId="ADAL" clId="{77E9FAC6-DFD0-4027-9128-ADE6749AE15C}" dt="2026-10-13T16:39:28.089" v="274" actId="20577"/>
          <ac:spMkLst>
            <pc:docMk/>
            <pc:sldMk cId="0" sldId="258"/>
            <ac:spMk id="10" creationId="{7210E506-6CD0-338F-787C-9DA8B1387A95}"/>
          </ac:spMkLst>
        </pc:spChg>
        <pc:graphicFrameChg chg="mod modGraphic">
          <ac:chgData name="PABLO REINA JIMENEZ" userId="11481fb6-70c1-4284-90c0-f8ebfd404008" providerId="ADAL" clId="{77E9FAC6-DFD0-4027-9128-ADE6749AE15C}" dt="2026-10-13T16:28:46.760" v="253" actId="2165"/>
          <ac:graphicFrameMkLst>
            <pc:docMk/>
            <pc:sldMk cId="0" sldId="258"/>
            <ac:graphicFrameMk id="20" creationId="{C4701EBD-D9D7-FEC2-AFB9-D3BA758B2304}"/>
          </ac:graphicFrameMkLst>
        </pc:graphicFrameChg>
      </pc:sldChg>
      <pc:sldChg chg="addSp delSp modSp mod">
        <pc:chgData name="PABLO REINA JIMENEZ" userId="11481fb6-70c1-4284-90c0-f8ebfd404008" providerId="ADAL" clId="{77E9FAC6-DFD0-4027-9128-ADE6749AE15C}" dt="2026-10-13T16:43:51.652" v="352" actId="1076"/>
        <pc:sldMkLst>
          <pc:docMk/>
          <pc:sldMk cId="0" sldId="259"/>
        </pc:sldMkLst>
        <pc:spChg chg="add del">
          <ac:chgData name="PABLO REINA JIMENEZ" userId="11481fb6-70c1-4284-90c0-f8ebfd404008" providerId="ADAL" clId="{77E9FAC6-DFD0-4027-9128-ADE6749AE15C}" dt="2026-10-13T16:16:53.258" v="13" actId="478"/>
          <ac:spMkLst>
            <pc:docMk/>
            <pc:sldMk cId="0" sldId="259"/>
            <ac:spMk id="5" creationId="{00000000-0000-0000-0000-000000000000}"/>
          </ac:spMkLst>
        </pc:spChg>
        <pc:spChg chg="add">
          <ac:chgData name="PABLO REINA JIMENEZ" userId="11481fb6-70c1-4284-90c0-f8ebfd404008" providerId="ADAL" clId="{77E9FAC6-DFD0-4027-9128-ADE6749AE15C}" dt="2026-10-13T16:16:54.800" v="15" actId="22"/>
          <ac:spMkLst>
            <pc:docMk/>
            <pc:sldMk cId="0" sldId="259"/>
            <ac:spMk id="12" creationId="{B28D9FBE-BDE2-1401-7E53-B0EA17C84B80}"/>
          </ac:spMkLst>
        </pc:spChg>
        <pc:spChg chg="mod">
          <ac:chgData name="PABLO REINA JIMENEZ" userId="11481fb6-70c1-4284-90c0-f8ebfd404008" providerId="ADAL" clId="{77E9FAC6-DFD0-4027-9128-ADE6749AE15C}" dt="2026-10-13T16:43:30.867" v="349" actId="6549"/>
          <ac:spMkLst>
            <pc:docMk/>
            <pc:sldMk cId="0" sldId="259"/>
            <ac:spMk id="30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43:51.652" v="352" actId="1076"/>
          <ac:spMkLst>
            <pc:docMk/>
            <pc:sldMk cId="0" sldId="259"/>
            <ac:spMk id="40" creationId="{00000000-0000-0000-0000-000000000000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3T16:39:22.944" v="273" actId="20577"/>
        <pc:sldMkLst>
          <pc:docMk/>
          <pc:sldMk cId="0" sldId="260"/>
        </pc:sldMkLst>
        <pc:spChg chg="add mod">
          <ac:chgData name="PABLO REINA JIMENEZ" userId="11481fb6-70c1-4284-90c0-f8ebfd404008" providerId="ADAL" clId="{77E9FAC6-DFD0-4027-9128-ADE6749AE15C}" dt="2026-10-13T16:39:22.944" v="273" actId="20577"/>
          <ac:spMkLst>
            <pc:docMk/>
            <pc:sldMk cId="0" sldId="260"/>
            <ac:spMk id="10" creationId="{E8879C8E-9025-A15F-A771-E5F52A57E00A}"/>
          </ac:spMkLst>
        </pc:spChg>
      </pc:sldChg>
      <pc:sldChg chg="addSp delSp mod">
        <pc:chgData name="PABLO REINA JIMENEZ" userId="11481fb6-70c1-4284-90c0-f8ebfd404008" providerId="ADAL" clId="{77E9FAC6-DFD0-4027-9128-ADE6749AE15C}" dt="2026-10-13T16:42:29.618" v="280" actId="478"/>
        <pc:sldMkLst>
          <pc:docMk/>
          <pc:sldMk cId="0" sldId="271"/>
        </pc:sldMkLst>
        <pc:spChg chg="add">
          <ac:chgData name="PABLO REINA JIMENEZ" userId="11481fb6-70c1-4284-90c0-f8ebfd404008" providerId="ADAL" clId="{77E9FAC6-DFD0-4027-9128-ADE6749AE15C}" dt="2026-10-13T16:16:49.792" v="9" actId="22"/>
          <ac:spMkLst>
            <pc:docMk/>
            <pc:sldMk cId="0" sldId="271"/>
            <ac:spMk id="10" creationId="{768BDCD1-8762-D4E8-589F-F5E802498DE5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9T10:03:41.456" v="354" actId="20577"/>
        <pc:sldMkLst>
          <pc:docMk/>
          <pc:sldMk cId="0" sldId="277"/>
        </pc:sldMkLst>
        <pc:spChg chg="add mod">
          <ac:chgData name="PABLO REINA JIMENEZ" userId="11481fb6-70c1-4284-90c0-f8ebfd404008" providerId="ADAL" clId="{77E9FAC6-DFD0-4027-9128-ADE6749AE15C}" dt="2026-10-13T16:16:45.648" v="7" actId="20577"/>
          <ac:spMkLst>
            <pc:docMk/>
            <pc:sldMk cId="0" sldId="277"/>
            <ac:spMk id="10" creationId="{5FC6FAD6-748E-A6CC-99DE-22501D24437D}"/>
          </ac:spMkLst>
        </pc:spChg>
        <pc:graphicFrameChg chg="add mod modGraphic">
          <ac:chgData name="PABLO REINA JIMENEZ" userId="11481fb6-70c1-4284-90c0-f8ebfd404008" providerId="ADAL" clId="{77E9FAC6-DFD0-4027-9128-ADE6749AE15C}" dt="2026-10-19T10:03:41.456" v="354" actId="20577"/>
          <ac:graphicFrameMkLst>
            <pc:docMk/>
            <pc:sldMk cId="0" sldId="277"/>
            <ac:graphicFrameMk id="13" creationId="{C4701EBD-D9D7-FEC2-AFB9-D3BA758B2304}"/>
          </ac:graphicFrameMkLst>
        </pc:graphicFrameChg>
      </pc:sldChg>
      <pc:sldChg chg="addSp delSp modSp mod">
        <pc:chgData name="PABLO REINA JIMENEZ" userId="11481fb6-70c1-4284-90c0-f8ebfd404008" providerId="ADAL" clId="{77E9FAC6-DFD0-4027-9128-ADE6749AE15C}" dt="2026-10-13T16:31:25.577" v="262" actId="20577"/>
        <pc:sldMkLst>
          <pc:docMk/>
          <pc:sldMk cId="0" sldId="279"/>
        </pc:sldMkLst>
        <pc:spChg chg="mod">
          <ac:chgData name="PABLO REINA JIMENEZ" userId="11481fb6-70c1-4284-90c0-f8ebfd404008" providerId="ADAL" clId="{77E9FAC6-DFD0-4027-9128-ADE6749AE15C}" dt="2026-10-13T16:31:25.577" v="262" actId="20577"/>
          <ac:spMkLst>
            <pc:docMk/>
            <pc:sldMk cId="0" sldId="279"/>
            <ac:spMk id="8" creationId="{00000000-0000-0000-0000-000000000000}"/>
          </ac:spMkLst>
        </pc:spChg>
        <pc:spChg chg="add">
          <ac:chgData name="PABLO REINA JIMENEZ" userId="11481fb6-70c1-4284-90c0-f8ebfd404008" providerId="ADAL" clId="{77E9FAC6-DFD0-4027-9128-ADE6749AE15C}" dt="2026-10-13T16:17:05.540" v="21" actId="22"/>
          <ac:spMkLst>
            <pc:docMk/>
            <pc:sldMk cId="0" sldId="279"/>
            <ac:spMk id="13" creationId="{DDD91925-AEB1-55E8-DB97-D6016962024E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3T16:39:19.898" v="272" actId="20577"/>
        <pc:sldMkLst>
          <pc:docMk/>
          <pc:sldMk cId="0" sldId="288"/>
        </pc:sldMkLst>
        <pc:spChg chg="add mod">
          <ac:chgData name="PABLO REINA JIMENEZ" userId="11481fb6-70c1-4284-90c0-f8ebfd404008" providerId="ADAL" clId="{77E9FAC6-DFD0-4027-9128-ADE6749AE15C}" dt="2026-10-13T16:39:19.898" v="272" actId="20577"/>
          <ac:spMkLst>
            <pc:docMk/>
            <pc:sldMk cId="0" sldId="288"/>
            <ac:spMk id="10" creationId="{B3B3208D-19BF-9150-228E-75AB9176670B}"/>
          </ac:spMkLst>
        </pc:spChg>
        <pc:spChg chg="mod">
          <ac:chgData name="PABLO REINA JIMENEZ" userId="11481fb6-70c1-4284-90c0-f8ebfd404008" providerId="ADAL" clId="{77E9FAC6-DFD0-4027-9128-ADE6749AE15C}" dt="2026-10-13T16:38:27.496" v="267" actId="1076"/>
          <ac:spMkLst>
            <pc:docMk/>
            <pc:sldMk cId="0" sldId="288"/>
            <ac:spMk id="37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38:24.070" v="266" actId="1076"/>
          <ac:spMkLst>
            <pc:docMk/>
            <pc:sldMk cId="0" sldId="288"/>
            <ac:spMk id="38" creationId="{00000000-0000-0000-0000-000000000000}"/>
          </ac:spMkLst>
        </pc:spChg>
      </pc:sldChg>
      <pc:sldChg chg="delSp modSp mod">
        <pc:chgData name="PABLO REINA JIMENEZ" userId="11481fb6-70c1-4284-90c0-f8ebfd404008" providerId="ADAL" clId="{77E9FAC6-DFD0-4027-9128-ADE6749AE15C}" dt="2026-10-13T16:39:16.371" v="271" actId="1076"/>
        <pc:sldMkLst>
          <pc:docMk/>
          <pc:sldMk cId="0" sldId="289"/>
        </pc:sldMkLst>
        <pc:spChg chg="mod">
          <ac:chgData name="PABLO REINA JIMENEZ" userId="11481fb6-70c1-4284-90c0-f8ebfd404008" providerId="ADAL" clId="{77E9FAC6-DFD0-4027-9128-ADE6749AE15C}" dt="2026-10-13T16:39:16.371" v="271" actId="1076"/>
          <ac:spMkLst>
            <pc:docMk/>
            <pc:sldMk cId="0" sldId="289"/>
            <ac:spMk id="2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39:16.371" v="271" actId="1076"/>
          <ac:spMkLst>
            <pc:docMk/>
            <pc:sldMk cId="0" sldId="289"/>
            <ac:spMk id="3" creationId="{00000000-0000-0000-0000-000000000000}"/>
          </ac:spMkLst>
        </pc:spChg>
        <pc:spChg chg="del">
          <ac:chgData name="PABLO REINA JIMENEZ" userId="11481fb6-70c1-4284-90c0-f8ebfd404008" providerId="ADAL" clId="{77E9FAC6-DFD0-4027-9128-ADE6749AE15C}" dt="2026-10-13T16:38:51.602" v="269" actId="478"/>
          <ac:spMkLst>
            <pc:docMk/>
            <pc:sldMk cId="0" sldId="289"/>
            <ac:spMk id="4" creationId="{00000000-0000-0000-0000-000000000000}"/>
          </ac:spMkLst>
        </pc:spChg>
        <pc:spChg chg="del">
          <ac:chgData name="PABLO REINA JIMENEZ" userId="11481fb6-70c1-4284-90c0-f8ebfd404008" providerId="ADAL" clId="{77E9FAC6-DFD0-4027-9128-ADE6749AE15C}" dt="2026-10-13T16:38:49.183" v="268" actId="478"/>
          <ac:spMkLst>
            <pc:docMk/>
            <pc:sldMk cId="0" sldId="289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43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2"/>
          <p:cNvSpPr txBox="1"/>
          <p:nvPr/>
        </p:nvSpPr>
        <p:spPr>
          <a:xfrm>
            <a:off x="900000" y="2000000"/>
            <a:ext cx="104000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4700" b="1">
                <a:solidFill>
                  <a:srgbClr val="FFFFFF"/>
                </a:solidFill>
                <a:latin typeface="Segoe UI"/>
              </a:rPr>
              <a:t>Práctica 4: Pilas y Colas</a:t>
            </a:r>
            <a:endParaRPr/>
          </a:p>
        </p:txBody>
      </p:sp>
      <p:sp>
        <p:nvSpPr>
          <p:cNvPr id="3" name="Acento 3"/>
          <p:cNvSpPr/>
          <p:nvPr/>
        </p:nvSpPr>
        <p:spPr>
          <a:xfrm>
            <a:off x="3600000" y="3100000"/>
            <a:ext cx="4800000" cy="28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4AA9042B-5163-D1AF-B6D0-C5310B8F994E}"/>
              </a:ext>
            </a:extLst>
          </p:cNvPr>
          <p:cNvSpPr txBox="1"/>
          <p:nvPr/>
        </p:nvSpPr>
        <p:spPr>
          <a:xfrm>
            <a:off x="914400" y="4572000"/>
            <a:ext cx="10058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F1C40F"/>
                </a:solidFill>
                <a:latin typeface="Segoe UI"/>
                <a:ea typeface="Segoe UI"/>
                <a:cs typeface="Segoe UI"/>
              </a:rPr>
              <a:t>AED I — Bloque I</a:t>
            </a:r>
            <a:endParaRPr lang="es-ES" sz="2000" b="0" i="0" dirty="0">
              <a:solidFill>
                <a:srgbClr val="F1C40F"/>
              </a:solidFill>
              <a:latin typeface="Segoe UI"/>
              <a:ea typeface="Segoe UI"/>
              <a:cs typeface="Segoe UI"/>
            </a:endParaRPr>
          </a:p>
          <a:p>
            <a:pPr algn="ctr"/>
            <a:r>
              <a:rPr lang="es-ES" sz="1400" dirty="0">
                <a:solidFill>
                  <a:srgbClr val="AAAAA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 h en clase + ~1 h en casa · Python</a:t>
            </a:r>
            <a:r>
              <a:rPr sz="1400" b="0" i="0" dirty="0">
                <a:solidFill>
                  <a:srgbClr val="AAAAAA"/>
                </a:solidFill>
                <a:latin typeface="Segoe UI" panose="020B0502040204020203" pitchFamily="34" charset="0"/>
                <a:ea typeface="Segoe UI"/>
                <a:cs typeface="Segoe UI" panose="020B0502040204020203" pitchFamily="34" charset="0"/>
              </a:rPr>
              <a:t> </a:t>
            </a:r>
            <a:endParaRPr lang="es-ES" sz="1400" b="0" i="0" dirty="0">
              <a:solidFill>
                <a:srgbClr val="AAAAAA"/>
              </a:solidFill>
              <a:latin typeface="Segoe UI" panose="020B0502040204020203" pitchFamily="34" charset="0"/>
              <a:ea typeface="Segoe UI"/>
              <a:cs typeface="Segoe UI" panose="020B0502040204020203" pitchFamily="34" charset="0"/>
            </a:endParaRPr>
          </a:p>
          <a:p>
            <a:pPr algn="ctr"/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Algoritm</a:t>
            </a:r>
            <a:r>
              <a:rPr lang="es-ES"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ia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de Datos | Ingeniería </a:t>
            </a:r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Informática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– </a:t>
            </a:r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Inteligencia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Artificial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¿Qué vamos a hacer?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o 6"/>
          <p:cNvSpPr txBox="1"/>
          <p:nvPr/>
        </p:nvSpPr>
        <p:spPr>
          <a:xfrm>
            <a:off x="455000" y="6610000"/>
            <a:ext cx="1120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000" b="0" dirty="0">
                <a:solidFill>
                  <a:srgbClr val="FFFFFF"/>
                </a:solidFill>
                <a:latin typeface="Segoe UI"/>
              </a:rPr>
              <a:t>Algoritmos y Estructuras de Datos | Práctica </a:t>
            </a:r>
            <a:r>
              <a:rPr lang="es-ES" sz="1000" dirty="0">
                <a:solidFill>
                  <a:srgbClr val="FFFFFF"/>
                </a:solidFill>
                <a:latin typeface="Segoe UI"/>
              </a:rPr>
              <a:t>4</a:t>
            </a:r>
            <a:endParaRPr dirty="0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OBJETIVOS</a:t>
            </a:r>
            <a:endParaRPr/>
          </a:p>
        </p:txBody>
      </p:sp>
      <p:sp>
        <p:nvSpPr>
          <p:cNvPr id="8" name="Texto 8"/>
          <p:cNvSpPr txBox="1"/>
          <p:nvPr/>
        </p:nvSpPr>
        <p:spPr>
          <a:xfrm>
            <a:off x="455000" y="1940000"/>
            <a:ext cx="11100000" cy="2623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buAutoNum type="arabicPeriod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Recordar las operaciones de los TAD pila y cola y el orden en que salen sus elementos.</a:t>
            </a:r>
          </a:p>
          <a:p>
            <a:pPr marL="457200" indent="-457200" algn="l">
              <a:buAutoNum type="arabicPeriod"/>
            </a:pPr>
            <a:endParaRPr dirty="0"/>
          </a:p>
          <a:p>
            <a:pPr marL="457200" indent="-457200" algn="l">
              <a:buAutoNum type="arabicPeriod" startAt="2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Relacionar esos TAD con las interfaces de Python y C++.</a:t>
            </a:r>
          </a:p>
          <a:p>
            <a:pPr marL="342900" indent="-342900" algn="l">
              <a:buAutoNum type="arabicPeriod" startAt="2"/>
            </a:pPr>
            <a:endParaRPr dirty="0"/>
          </a:p>
          <a:p>
            <a:pPr marL="457200" indent="-457200" algn="l">
              <a:buAutoNum type="arabicPeriod" startAt="3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Resolver dos problemas: comprobar paréntesis anidados y gestionar turnos de atención.</a:t>
            </a:r>
          </a:p>
          <a:p>
            <a:pPr marL="342900" indent="-342900" algn="l">
              <a:buAutoNum type="arabicPeriod" startAt="3"/>
            </a:pPr>
            <a:endParaRPr dirty="0"/>
          </a:p>
          <a:p>
            <a:pPr marL="457200" indent="-457200" algn="l">
              <a:buAutoNum type="arabicPeriod" startAt="4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Comprobar casos límite con pruebas automáticas y justificar la complejidad.</a:t>
            </a:r>
          </a:p>
          <a:p>
            <a:pPr marL="342900" indent="-342900" algn="l">
              <a:buAutoNum type="arabicPeriod" startAt="4"/>
            </a:pPr>
            <a:endParaRPr dirty="0"/>
          </a:p>
          <a:p>
            <a:pPr algn="l"/>
            <a:r>
              <a:rPr lang="es-ES" sz="1850" b="0" dirty="0">
                <a:solidFill>
                  <a:srgbClr val="333333"/>
                </a:solidFill>
                <a:latin typeface="Segoe UI"/>
              </a:rPr>
              <a:t>5.	Cerrar con una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miniprueba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 individual sobre listas, con contenidos anteriores a esta clase.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Flujo de la sesión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5FC6FAD6-748E-A6CC-99DE-22501D24437D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graphicFrame>
        <p:nvGraphicFramePr>
          <p:cNvPr id="13" name="Table 6">
            <a:extLst>
              <a:ext uri="{FF2B5EF4-FFF2-40B4-BE49-F238E27FC236}">
                <a16:creationId xmlns:a16="http://schemas.microsoft.com/office/drawing/2014/main" id="{C4701EBD-D9D7-FEC2-AFB9-D3BA758B2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863543"/>
              </p:ext>
            </p:extLst>
          </p:nvPr>
        </p:nvGraphicFramePr>
        <p:xfrm>
          <a:off x="2670174" y="1988820"/>
          <a:ext cx="684847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4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Fase</a:t>
                      </a:r>
                    </a:p>
                  </a:txBody>
                  <a:tcPr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 err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Duración</a:t>
                      </a:r>
                      <a:endParaRPr sz="1600" b="1" i="0" dirty="0">
                        <a:solidFill>
                          <a:srgbClr val="FFFFFF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LIFO, FIFO, operaciones y costes</a:t>
                      </a:r>
                      <a:endParaRPr lang="es-ES" sz="1600" b="0" i="0" dirty="0">
                        <a:solidFill>
                          <a:srgbClr val="333333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15 min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Demostración de </a:t>
                      </a:r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deque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, </a:t>
                      </a:r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stack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 y </a:t>
                      </a:r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queue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.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10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Ejercicio 1: paréntesis equilibrados.</a:t>
                      </a:r>
                      <a:endParaRPr lang="es-ES" sz="1600" dirty="0"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25 min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Ejercicio 2: turnos de atención.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20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Puesta en común: trazas y casos límite.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10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79024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Miniprueba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 individual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26726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Pila: LIFO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768BDCD1-8762-D4E8-589F-F5E802498DE5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Diagrama 30"/>
          <p:cNvSpPr/>
          <p:nvPr/>
        </p:nvSpPr>
        <p:spPr>
          <a:xfrm>
            <a:off x="600000" y="1710000"/>
            <a:ext cx="10900000" cy="480000"/>
          </a:xfrm>
          <a:prstGeom prst="roundRect">
            <a:avLst/>
          </a:prstGeom>
          <a:solidFill>
            <a:srgbClr val="FFFFF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850" b="1" dirty="0">
                <a:solidFill>
                  <a:srgbClr val="1A5276"/>
                </a:solidFill>
                <a:latin typeface="Segoe UI"/>
              </a:rPr>
              <a:t>Apilar A, B y C: la cima siempre es el último elemento insertado.</a:t>
            </a:r>
            <a:endParaRPr dirty="0"/>
          </a:p>
        </p:txBody>
      </p:sp>
      <p:sp>
        <p:nvSpPr>
          <p:cNvPr id="31" name="Diagrama 31"/>
          <p:cNvSpPr/>
          <p:nvPr/>
        </p:nvSpPr>
        <p:spPr>
          <a:xfrm>
            <a:off x="70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1 · APILAR A</a:t>
            </a:r>
            <a:endParaRPr/>
          </a:p>
        </p:txBody>
      </p:sp>
      <p:sp>
        <p:nvSpPr>
          <p:cNvPr id="32" name="Diagrama 32"/>
          <p:cNvSpPr/>
          <p:nvPr/>
        </p:nvSpPr>
        <p:spPr>
          <a:xfrm>
            <a:off x="453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2 · APILAR B</a:t>
            </a:r>
            <a:endParaRPr/>
          </a:p>
        </p:txBody>
      </p:sp>
      <p:sp>
        <p:nvSpPr>
          <p:cNvPr id="33" name="Diagrama 33"/>
          <p:cNvSpPr/>
          <p:nvPr/>
        </p:nvSpPr>
        <p:spPr>
          <a:xfrm>
            <a:off x="836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3 · APILAR C</a:t>
            </a:r>
            <a:endParaRPr/>
          </a:p>
        </p:txBody>
      </p:sp>
      <p:sp>
        <p:nvSpPr>
          <p:cNvPr id="34" name="Diagrama 34"/>
          <p:cNvSpPr/>
          <p:nvPr/>
        </p:nvSpPr>
        <p:spPr>
          <a:xfrm>
            <a:off x="1780000" y="426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5" name="Diagrama 35"/>
          <p:cNvSpPr/>
          <p:nvPr/>
        </p:nvSpPr>
        <p:spPr>
          <a:xfrm>
            <a:off x="5610000" y="362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6" name="Diagrama 36"/>
          <p:cNvSpPr/>
          <p:nvPr/>
        </p:nvSpPr>
        <p:spPr>
          <a:xfrm>
            <a:off x="5610000" y="426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7" name="Diagrama 37"/>
          <p:cNvSpPr/>
          <p:nvPr/>
        </p:nvSpPr>
        <p:spPr>
          <a:xfrm>
            <a:off x="9440000" y="2980000"/>
            <a:ext cx="1450000" cy="600000"/>
          </a:xfrm>
          <a:prstGeom prst="roundRect">
            <a:avLst/>
          </a:prstGeom>
          <a:solidFill>
            <a:srgbClr val="F1C40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00" b="1">
                <a:solidFill>
                  <a:srgbClr val="154360"/>
                </a:solidFill>
                <a:latin typeface="Segoe UI"/>
              </a:rPr>
              <a:t>C  ← cima</a:t>
            </a:r>
            <a:endParaRPr/>
          </a:p>
        </p:txBody>
      </p:sp>
      <p:sp>
        <p:nvSpPr>
          <p:cNvPr id="38" name="Diagrama 38"/>
          <p:cNvSpPr/>
          <p:nvPr/>
        </p:nvSpPr>
        <p:spPr>
          <a:xfrm>
            <a:off x="9700000" y="362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9" name="Diagrama 39"/>
          <p:cNvSpPr/>
          <p:nvPr/>
        </p:nvSpPr>
        <p:spPr>
          <a:xfrm>
            <a:off x="9700000" y="426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40" name="Diagrama 40"/>
          <p:cNvSpPr/>
          <p:nvPr/>
        </p:nvSpPr>
        <p:spPr>
          <a:xfrm>
            <a:off x="8900000" y="5200000"/>
            <a:ext cx="2300000" cy="480000"/>
          </a:xfrm>
          <a:prstGeom prst="roundRect">
            <a:avLst/>
          </a:prstGeom>
          <a:solidFill>
            <a:srgbClr val="EAFAF1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E8449"/>
                </a:solidFill>
                <a:latin typeface="Segoe UI"/>
              </a:rPr>
              <a:t>↓ sale C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Cola: FIFO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B28D9FBE-BDE2-1401-7E53-B0EA17C84B80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Diagrama 30"/>
          <p:cNvSpPr/>
          <p:nvPr/>
        </p:nvSpPr>
        <p:spPr>
          <a:xfrm>
            <a:off x="600000" y="1741433"/>
            <a:ext cx="10900000" cy="417135"/>
          </a:xfrm>
          <a:prstGeom prst="roundRect">
            <a:avLst/>
          </a:prstGeom>
          <a:solidFill>
            <a:srgbClr val="FFFFF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850" b="1" dirty="0">
                <a:solidFill>
                  <a:srgbClr val="1A5276"/>
                </a:solidFill>
                <a:latin typeface="Segoe UI"/>
              </a:rPr>
              <a:t>Encolar A, B y C: el principio de la cola es el primer elemento insertado</a:t>
            </a:r>
            <a:endParaRPr dirty="0"/>
          </a:p>
        </p:txBody>
      </p:sp>
      <p:sp>
        <p:nvSpPr>
          <p:cNvPr id="31" name="Diagrama 31"/>
          <p:cNvSpPr/>
          <p:nvPr/>
        </p:nvSpPr>
        <p:spPr>
          <a:xfrm>
            <a:off x="70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1 · ENCOLAR A</a:t>
            </a:r>
            <a:endParaRPr/>
          </a:p>
        </p:txBody>
      </p:sp>
      <p:sp>
        <p:nvSpPr>
          <p:cNvPr id="32" name="Diagrama 32"/>
          <p:cNvSpPr/>
          <p:nvPr/>
        </p:nvSpPr>
        <p:spPr>
          <a:xfrm>
            <a:off x="453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2 · ENCOLAR B</a:t>
            </a:r>
            <a:endParaRPr/>
          </a:p>
        </p:txBody>
      </p:sp>
      <p:sp>
        <p:nvSpPr>
          <p:cNvPr id="33" name="Diagrama 33"/>
          <p:cNvSpPr/>
          <p:nvPr/>
        </p:nvSpPr>
        <p:spPr>
          <a:xfrm>
            <a:off x="836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3 · ENCOLAR C</a:t>
            </a:r>
            <a:endParaRPr/>
          </a:p>
        </p:txBody>
      </p:sp>
      <p:sp>
        <p:nvSpPr>
          <p:cNvPr id="34" name="Diagrama 34"/>
          <p:cNvSpPr/>
          <p:nvPr/>
        </p:nvSpPr>
        <p:spPr>
          <a:xfrm>
            <a:off x="150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5" name="Diagrama 35"/>
          <p:cNvSpPr/>
          <p:nvPr/>
        </p:nvSpPr>
        <p:spPr>
          <a:xfrm>
            <a:off x="493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6" name="Diagrama 36"/>
          <p:cNvSpPr/>
          <p:nvPr/>
        </p:nvSpPr>
        <p:spPr>
          <a:xfrm>
            <a:off x="585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7" name="Diagrama 37"/>
          <p:cNvSpPr/>
          <p:nvPr/>
        </p:nvSpPr>
        <p:spPr>
          <a:xfrm>
            <a:off x="8500000" y="3650000"/>
            <a:ext cx="850000" cy="850000"/>
          </a:xfrm>
          <a:prstGeom prst="roundRect">
            <a:avLst/>
          </a:prstGeom>
          <a:solidFill>
            <a:srgbClr val="F1C40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8" name="Diagrama 38"/>
          <p:cNvSpPr/>
          <p:nvPr/>
        </p:nvSpPr>
        <p:spPr>
          <a:xfrm>
            <a:off x="942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9" name="Diagrama 39"/>
          <p:cNvSpPr/>
          <p:nvPr/>
        </p:nvSpPr>
        <p:spPr>
          <a:xfrm>
            <a:off x="1034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C</a:t>
            </a:r>
            <a:endParaRPr/>
          </a:p>
        </p:txBody>
      </p:sp>
      <p:sp>
        <p:nvSpPr>
          <p:cNvPr id="40" name="Diagrama 40"/>
          <p:cNvSpPr/>
          <p:nvPr/>
        </p:nvSpPr>
        <p:spPr>
          <a:xfrm>
            <a:off x="8730000" y="5021947"/>
            <a:ext cx="2230000" cy="400110"/>
          </a:xfrm>
          <a:prstGeom prst="roundRect">
            <a:avLst/>
          </a:prstGeom>
          <a:solidFill>
            <a:srgbClr val="EAFAF1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 dirty="0">
                <a:solidFill>
                  <a:srgbClr val="1E8449"/>
                </a:solidFill>
                <a:latin typeface="Segoe UI"/>
              </a:rPr>
              <a:t>→ sale A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Python: deque como pila y como cola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BIBLIOTECA ESTÁNDAR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7210E506-6CD0-338F-787C-9DA8B1387A95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graphicFrame>
        <p:nvGraphicFramePr>
          <p:cNvPr id="20" name="Tabla de operaciones">
            <a:extLst>
              <a:ext uri="{FF2B5EF4-FFF2-40B4-BE49-F238E27FC236}">
                <a16:creationId xmlns:a16="http://schemas.microsoft.com/office/drawing/2014/main" id="{C4701EBD-D9D7-FEC2-AFB9-D3BA758B2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778106"/>
              </p:ext>
            </p:extLst>
          </p:nvPr>
        </p:nvGraphicFramePr>
        <p:xfrm>
          <a:off x="850000" y="1860000"/>
          <a:ext cx="10500000" cy="2957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2857"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Operación</a:t>
                      </a:r>
                    </a:p>
                  </a:txBody>
                  <a:tcPr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 err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deque en Python</a:t>
                      </a:r>
                      <a:endParaRPr sz="1600" b="1" i="0" dirty="0">
                        <a:solidFill>
                          <a:srgbClr val="FFFFFF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Crear</a:t>
                      </a:r>
                      <a:endParaRPr lang="es-ES" sz="1600" b="0" i="0" dirty="0">
                        <a:solidFill>
                          <a:srgbClr val="333333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 = deque()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Apilar / encolar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d.appendleft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(x) / </a:t>
                      </a:r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d.append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Consultar frente / fin</a:t>
                      </a:r>
                      <a:endParaRPr lang="es-ES" sz="1600" dirty="0"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d[0] / d[-1]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Desapilar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 / desencolar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d.popleft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() / </a:t>
                      </a:r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d.pop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Rotar n veces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rotate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(n) (n positivo rota derecha, negativo izquierda)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79024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¿Por qué importa la representación?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COSTES</a:t>
            </a:r>
            <a:endParaRPr/>
          </a:p>
        </p:txBody>
      </p:sp>
      <p:sp>
        <p:nvSpPr>
          <p:cNvPr id="8" name="Texto 8"/>
          <p:cNvSpPr txBox="1"/>
          <p:nvPr/>
        </p:nvSpPr>
        <p:spPr>
          <a:xfrm>
            <a:off x="480000" y="1940000"/>
            <a:ext cx="111000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En Python,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list.append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(x) y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list.pop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() sirven para una pila: actúan al final y cuestan O(1) amortizado.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s-ES" sz="1850" dirty="0">
              <a:solidFill>
                <a:srgbClr val="333333"/>
              </a:solidFill>
              <a:latin typeface="Segoe U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Una cola hecha con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list.pop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(0) desplaza todos los elementos posteriores: cada extracción cuesta O(n).</a:t>
            </a:r>
            <a:endParaRPr dirty="0"/>
          </a:p>
          <a:p>
            <a:pPr algn="l"/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collections.deque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 ofrece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append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(x) al final y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popleft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() al frente en O(1).</a:t>
            </a:r>
            <a:endParaRPr dirty="0"/>
          </a:p>
        </p:txBody>
      </p:sp>
      <p:sp>
        <p:nvSpPr>
          <p:cNvPr id="9" name="Acento 9"/>
          <p:cNvSpPr/>
          <p:nvPr/>
        </p:nvSpPr>
        <p:spPr>
          <a:xfrm>
            <a:off x="480000" y="5770000"/>
            <a:ext cx="11200000" cy="560000"/>
          </a:xfrm>
          <a:prstGeom prst="rect">
            <a:avLst/>
          </a:prstGeom>
          <a:solidFill>
            <a:srgbClr val="FEF9E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Acento 10"/>
          <p:cNvSpPr/>
          <p:nvPr/>
        </p:nvSpPr>
        <p:spPr>
          <a:xfrm>
            <a:off x="480000" y="5770000"/>
            <a:ext cx="38000" cy="560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o 11"/>
          <p:cNvSpPr txBox="1"/>
          <p:nvPr/>
        </p:nvSpPr>
        <p:spPr>
          <a:xfrm>
            <a:off x="700000" y="59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500" b="0">
                <a:solidFill>
                  <a:srgbClr val="333333"/>
                </a:solidFill>
                <a:latin typeface="Segoe UI"/>
              </a:rPr>
              <a:t>Para una cola grande: deque.popleft(), no list.pop(0).</a:t>
            </a:r>
            <a:endParaRPr/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DDD91925-AEB1-55E8-DB97-D6016962024E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Ejercicio 1: paréntesis equilibrados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25 MINUTOS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E8879C8E-9025-A15F-A771-E5F52A57E00A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Contenido ejercicio 30"/>
          <p:cNvSpPr txBox="1"/>
          <p:nvPr/>
        </p:nvSpPr>
        <p:spPr>
          <a:xfrm>
            <a:off x="480000" y="1770000"/>
            <a:ext cx="11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1">
                <a:solidFill>
                  <a:srgbClr val="1A5276"/>
                </a:solidFill>
                <a:latin typeface="Segoe UI"/>
              </a:rPr>
              <a:t>Objetivo: decidir si los paréntesis (), corchetes [] y llaves {} cierran en el orden correcto.</a:t>
            </a:r>
            <a:endParaRPr/>
          </a:p>
        </p:txBody>
      </p:sp>
      <p:sp>
        <p:nvSpPr>
          <p:cNvPr id="31" name="Cuadro ejercicio 31"/>
          <p:cNvSpPr/>
          <p:nvPr/>
        </p:nvSpPr>
        <p:spPr>
          <a:xfrm>
            <a:off x="480000" y="2370000"/>
            <a:ext cx="3500000" cy="164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2" name="Contenido ejercicio 32"/>
          <p:cNvSpPr txBox="1"/>
          <p:nvPr/>
        </p:nvSpPr>
        <p:spPr>
          <a:xfrm>
            <a:off x="690000" y="2540000"/>
            <a:ext cx="305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1 · APERTURA</a:t>
            </a:r>
            <a:endParaRPr/>
          </a:p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Si lees (, [ o {, apila el símbolo.</a:t>
            </a:r>
            <a:endParaRPr/>
          </a:p>
        </p:txBody>
      </p:sp>
      <p:sp>
        <p:nvSpPr>
          <p:cNvPr id="33" name="Cuadro ejercicio 33"/>
          <p:cNvSpPr/>
          <p:nvPr/>
        </p:nvSpPr>
        <p:spPr>
          <a:xfrm>
            <a:off x="4350000" y="2370000"/>
            <a:ext cx="3500000" cy="164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Contenido ejercicio 34"/>
          <p:cNvSpPr txBox="1"/>
          <p:nvPr/>
        </p:nvSpPr>
        <p:spPr>
          <a:xfrm>
            <a:off x="4560000" y="2540000"/>
            <a:ext cx="305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2 · CIERRE</a:t>
            </a:r>
            <a:endParaRPr/>
          </a:p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Si lees ), ] o }, compáralo con la cima y desapila.</a:t>
            </a:r>
            <a:endParaRPr/>
          </a:p>
        </p:txBody>
      </p:sp>
      <p:sp>
        <p:nvSpPr>
          <p:cNvPr id="35" name="Cuadro ejercicio 35"/>
          <p:cNvSpPr/>
          <p:nvPr/>
        </p:nvSpPr>
        <p:spPr>
          <a:xfrm>
            <a:off x="8220000" y="2370000"/>
            <a:ext cx="3500000" cy="164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6" name="Contenido ejercicio 36"/>
          <p:cNvSpPr txBox="1"/>
          <p:nvPr/>
        </p:nvSpPr>
        <p:spPr>
          <a:xfrm>
            <a:off x="8430000" y="2540000"/>
            <a:ext cx="305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3 · FINAL</a:t>
            </a:r>
            <a:endParaRPr/>
          </a:p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La pila debe quedar vacía. Si no, faltan cierres.</a:t>
            </a:r>
            <a:endParaRPr/>
          </a:p>
        </p:txBody>
      </p:sp>
      <p:sp>
        <p:nvSpPr>
          <p:cNvPr id="37" name="Contenido ejercicio 37"/>
          <p:cNvSpPr txBox="1"/>
          <p:nvPr/>
        </p:nvSpPr>
        <p:spPr>
          <a:xfrm>
            <a:off x="480000" y="447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0">
                <a:solidFill>
                  <a:srgbClr val="333333"/>
                </a:solidFill>
                <a:latin typeface="Segoe UI"/>
              </a:rPr>
              <a:t>Ejemplos: a*(b+[c]) → verdadero     ([)] → falso     (( → falso</a:t>
            </a:r>
            <a:endParaRPr/>
          </a:p>
          <a:p>
            <a:r>
              <a:rPr lang="es-ES" sz="1800" b="0">
                <a:solidFill>
                  <a:srgbClr val="333333"/>
                </a:solidFill>
                <a:latin typeface="Segoe UI"/>
              </a:rPr>
              <a:t>Casos límite: texto vacío, cierre sin apertura y caracteres ajenos.</a:t>
            </a:r>
            <a:endParaRPr/>
          </a:p>
        </p:txBody>
      </p:sp>
      <p:sp>
        <p:nvSpPr>
          <p:cNvPr id="38" name="Cuadro ejercicio 38"/>
          <p:cNvSpPr/>
          <p:nvPr/>
        </p:nvSpPr>
        <p:spPr>
          <a:xfrm>
            <a:off x="480000" y="5560000"/>
            <a:ext cx="11200000" cy="57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9" name="Contenido ejercicio 39"/>
          <p:cNvSpPr txBox="1"/>
          <p:nvPr/>
        </p:nvSpPr>
        <p:spPr>
          <a:xfrm>
            <a:off x="700000" y="5680000"/>
            <a:ext cx="107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Cada carácter se procesa una vez: tiempo O(n), memoria O(n) en el peor caso.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Ejercicio 2: turnos de atención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30 MINUTOS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Contenido ejercicio 30"/>
          <p:cNvSpPr txBox="1"/>
          <p:nvPr/>
        </p:nvSpPr>
        <p:spPr>
          <a:xfrm>
            <a:off x="480000" y="1770000"/>
            <a:ext cx="1120000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A5276"/>
                </a:solidFill>
                <a:latin typeface="Segoe UI"/>
              </a:rPr>
              <a:t>Gestiona una fila: llega añade al final; siguiente consulta; atiende extrae del frente.</a:t>
            </a:r>
            <a:endParaRPr/>
          </a:p>
        </p:txBody>
      </p:sp>
      <p:sp>
        <p:nvSpPr>
          <p:cNvPr id="31" name="Cuadro ejercicio 31"/>
          <p:cNvSpPr/>
          <p:nvPr/>
        </p:nvSpPr>
        <p:spPr>
          <a:xfrm>
            <a:off x="480000" y="2400000"/>
            <a:ext cx="3500000" cy="8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2" name="Contenido ejercicio 32"/>
          <p:cNvSpPr txBox="1"/>
          <p:nvPr/>
        </p:nvSpPr>
        <p:spPr>
          <a:xfrm>
            <a:off x="700000" y="2600000"/>
            <a:ext cx="30500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llega Ana; llega Luis</a:t>
            </a:r>
            <a:endParaRPr/>
          </a:p>
        </p:txBody>
      </p:sp>
      <p:sp>
        <p:nvSpPr>
          <p:cNvPr id="33" name="Cuadro ejercicio 33"/>
          <p:cNvSpPr/>
          <p:nvPr/>
        </p:nvSpPr>
        <p:spPr>
          <a:xfrm>
            <a:off x="4350000" y="2400000"/>
            <a:ext cx="3500000" cy="8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Contenido ejercicio 34"/>
          <p:cNvSpPr txBox="1"/>
          <p:nvPr/>
        </p:nvSpPr>
        <p:spPr>
          <a:xfrm>
            <a:off x="4560000" y="2600000"/>
            <a:ext cx="30500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siguiente → Ana</a:t>
            </a:r>
            <a:endParaRPr/>
          </a:p>
        </p:txBody>
      </p:sp>
      <p:sp>
        <p:nvSpPr>
          <p:cNvPr id="35" name="Cuadro ejercicio 35"/>
          <p:cNvSpPr/>
          <p:nvPr/>
        </p:nvSpPr>
        <p:spPr>
          <a:xfrm>
            <a:off x="8220000" y="2400000"/>
            <a:ext cx="3500000" cy="82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6" name="Contenido ejercicio 36"/>
          <p:cNvSpPr txBox="1"/>
          <p:nvPr/>
        </p:nvSpPr>
        <p:spPr>
          <a:xfrm>
            <a:off x="8430000" y="2600000"/>
            <a:ext cx="30500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atiende → Ana</a:t>
            </a:r>
            <a:endParaRPr/>
          </a:p>
        </p:txBody>
      </p:sp>
      <p:sp>
        <p:nvSpPr>
          <p:cNvPr id="37" name="Contenido ejercicio 37"/>
          <p:cNvSpPr txBox="1"/>
          <p:nvPr/>
        </p:nvSpPr>
        <p:spPr>
          <a:xfrm>
            <a:off x="329300" y="3650000"/>
            <a:ext cx="37914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900" b="0" dirty="0">
                <a:solidFill>
                  <a:srgbClr val="333333"/>
                </a:solidFill>
                <a:latin typeface="Segoe UI"/>
              </a:rPr>
              <a:t>FRENTE → [ Ana ] [ Luis ] ← FINAL</a:t>
            </a:r>
            <a:endParaRPr dirty="0"/>
          </a:p>
        </p:txBody>
      </p:sp>
      <p:sp>
        <p:nvSpPr>
          <p:cNvPr id="38" name="Contenido ejercicio 38"/>
          <p:cNvSpPr txBox="1"/>
          <p:nvPr/>
        </p:nvSpPr>
        <p:spPr>
          <a:xfrm>
            <a:off x="4184300" y="3662006"/>
            <a:ext cx="37914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900" b="0" dirty="0">
                <a:solidFill>
                  <a:srgbClr val="333333"/>
                </a:solidFill>
                <a:latin typeface="Segoe UI"/>
              </a:rPr>
              <a:t>FRENTE → [ Ana ] [ Luis ] ← FINAL</a:t>
            </a:r>
            <a:endParaRPr dirty="0"/>
          </a:p>
        </p:txBody>
      </p:sp>
      <p:sp>
        <p:nvSpPr>
          <p:cNvPr id="39" name="Contenido ejercicio 39"/>
          <p:cNvSpPr txBox="1"/>
          <p:nvPr/>
        </p:nvSpPr>
        <p:spPr>
          <a:xfrm>
            <a:off x="8340000" y="3650000"/>
            <a:ext cx="3400000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900" b="0">
                <a:solidFill>
                  <a:srgbClr val="333333"/>
                </a:solidFill>
                <a:latin typeface="Segoe UI"/>
              </a:rPr>
              <a:t>FRENTE → [ Luis ] ← FINAL</a:t>
            </a:r>
            <a:endParaRPr/>
          </a:p>
        </p:txBody>
      </p:sp>
      <p:sp>
        <p:nvSpPr>
          <p:cNvPr id="40" name="Contenido ejercicio 40"/>
          <p:cNvSpPr txBox="1"/>
          <p:nvPr/>
        </p:nvSpPr>
        <p:spPr>
          <a:xfrm>
            <a:off x="480000" y="4710000"/>
            <a:ext cx="112000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0">
                <a:solidFill>
                  <a:srgbClr val="333333"/>
                </a:solidFill>
                <a:latin typeface="Segoe UI"/>
              </a:rPr>
              <a:t>La consulta no cambia la cola. Si está vacía, atiende y siguiente devuelven VACIA.</a:t>
            </a:r>
            <a:endParaRPr/>
          </a:p>
        </p:txBody>
      </p:sp>
      <p:sp>
        <p:nvSpPr>
          <p:cNvPr id="41" name="Cuadro ejercicio 41"/>
          <p:cNvSpPr/>
          <p:nvPr/>
        </p:nvSpPr>
        <p:spPr>
          <a:xfrm>
            <a:off x="480000" y="5600000"/>
            <a:ext cx="11200000" cy="55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Contenido ejercicio 42"/>
          <p:cNvSpPr txBox="1"/>
          <p:nvPr/>
        </p:nvSpPr>
        <p:spPr>
          <a:xfrm>
            <a:off x="700000" y="5700000"/>
            <a:ext cx="10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Respuestas del ejemplo: [Ana, Ana]. Cada orden cuesta O(1).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Ejercicio 2: entrada y salida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CONTRATO DE LA FUNCIÓN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Turnos 30"/>
          <p:cNvSpPr/>
          <p:nvPr/>
        </p:nvSpPr>
        <p:spPr>
          <a:xfrm>
            <a:off x="490000" y="1750000"/>
            <a:ext cx="11100000" cy="4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800" b="1">
                <a:solidFill>
                  <a:srgbClr val="1A5276"/>
                </a:solidFill>
                <a:latin typeface="Segoe UI"/>
              </a:rPr>
              <a:t>La función recibe una lista de tuplas (tipo, nombre), en orden cronológico.</a:t>
            </a:r>
            <a:endParaRPr/>
          </a:p>
        </p:txBody>
      </p:sp>
      <p:sp>
        <p:nvSpPr>
          <p:cNvPr id="31" name="Turnos 31"/>
          <p:cNvSpPr/>
          <p:nvPr/>
        </p:nvSpPr>
        <p:spPr>
          <a:xfrm>
            <a:off x="520000" y="2360000"/>
            <a:ext cx="3520000" cy="13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('llega', 'Ana')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Añade Ana al final de la cola.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No produce respuesta.</a:t>
            </a:r>
            <a:endParaRPr/>
          </a:p>
        </p:txBody>
      </p:sp>
      <p:sp>
        <p:nvSpPr>
          <p:cNvPr id="32" name="Turnos 32"/>
          <p:cNvSpPr/>
          <p:nvPr/>
        </p:nvSpPr>
        <p:spPr>
          <a:xfrm>
            <a:off x="4340000" y="2360000"/>
            <a:ext cx="3520000" cy="13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('siguiente', '')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Consulta quién está delante.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No elimina a esa persona.</a:t>
            </a:r>
            <a:endParaRPr/>
          </a:p>
        </p:txBody>
      </p:sp>
      <p:sp>
        <p:nvSpPr>
          <p:cNvPr id="33" name="Turnos 33"/>
          <p:cNvSpPr/>
          <p:nvPr/>
        </p:nvSpPr>
        <p:spPr>
          <a:xfrm>
            <a:off x="8160000" y="2360000"/>
            <a:ext cx="3520000" cy="132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('atiende', '')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Saca a la primera persona.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La devuelve como respuesta.</a:t>
            </a:r>
            <a:endParaRPr/>
          </a:p>
        </p:txBody>
      </p:sp>
      <p:sp>
        <p:nvSpPr>
          <p:cNvPr id="34" name="Turnos 34"/>
          <p:cNvSpPr/>
          <p:nvPr/>
        </p:nvSpPr>
        <p:spPr>
          <a:xfrm>
            <a:off x="520000" y="3940000"/>
            <a:ext cx="11160000" cy="105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Devuelve una lista de respuestas, una por cada 'siguiente' o 'atiende'.</a:t>
            </a:r>
            <a:endParaRPr/>
          </a:p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Si la cola está vacía, la respuesta es 'VACIA'. Las órdenes 'llega' no aparecen en el resultado.</a:t>
            </a:r>
            <a:endParaRPr/>
          </a:p>
        </p:txBody>
      </p:sp>
      <p:sp>
        <p:nvSpPr>
          <p:cNvPr id="35" name="Turnos 35"/>
          <p:cNvSpPr/>
          <p:nvPr/>
        </p:nvSpPr>
        <p:spPr>
          <a:xfrm>
            <a:off x="520000" y="5300000"/>
            <a:ext cx="11160000" cy="72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650" b="0">
                <a:solidFill>
                  <a:srgbClr val="333333"/>
                </a:solidFill>
                <a:latin typeface="Segoe UI"/>
              </a:rPr>
              <a:t>Ejemplo mínimo: [('llega','Ana'), ('siguiente',''), ('atiende','')]</a:t>
            </a:r>
            <a:endParaRPr/>
          </a:p>
          <a:p>
            <a:r>
              <a:rPr lang="es-ES" sz="1650" b="0">
                <a:solidFill>
                  <a:srgbClr val="333333"/>
                </a:solidFill>
                <a:latin typeface="Segoe UI"/>
              </a:rPr>
              <a:t>Resultado: ['Ana', 'Ana']  ·  La consulta no había quitado a Ana.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Ejemplo completo: llegan y esperan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TRAZA · ÓRDENES 1–6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Turnos 30"/>
          <p:cNvSpPr/>
          <p:nvPr/>
        </p:nvSpPr>
        <p:spPr>
          <a:xfrm>
            <a:off x="490000" y="1750000"/>
            <a:ext cx="11100000" cy="44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00" b="1">
                <a:solidFill>
                  <a:srgbClr val="1A5276"/>
                </a:solidFill>
                <a:latin typeface="Segoe UI"/>
              </a:rPr>
              <a:t>Cola: [frente ... final]. Resultado: respuestas acumuladas.</a:t>
            </a:r>
            <a:endParaRPr/>
          </a:p>
        </p:txBody>
      </p:sp>
      <p:sp>
        <p:nvSpPr>
          <p:cNvPr id="31" name="Turnos 31"/>
          <p:cNvSpPr/>
          <p:nvPr/>
        </p:nvSpPr>
        <p:spPr>
          <a:xfrm>
            <a:off x="530000" y="2230000"/>
            <a:ext cx="29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Orden recibida</a:t>
            </a:r>
            <a:endParaRPr/>
          </a:p>
        </p:txBody>
      </p:sp>
      <p:sp>
        <p:nvSpPr>
          <p:cNvPr id="32" name="Turnos 32"/>
          <p:cNvSpPr/>
          <p:nvPr/>
        </p:nvSpPr>
        <p:spPr>
          <a:xfrm>
            <a:off x="3530000" y="2230000"/>
            <a:ext cx="41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Cola después</a:t>
            </a:r>
            <a:endParaRPr/>
          </a:p>
        </p:txBody>
      </p:sp>
      <p:sp>
        <p:nvSpPr>
          <p:cNvPr id="33" name="Turnos 33"/>
          <p:cNvSpPr/>
          <p:nvPr/>
        </p:nvSpPr>
        <p:spPr>
          <a:xfrm>
            <a:off x="7730000" y="2230000"/>
            <a:ext cx="388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Resultado</a:t>
            </a:r>
            <a:endParaRPr/>
          </a:p>
        </p:txBody>
      </p:sp>
      <p:sp>
        <p:nvSpPr>
          <p:cNvPr id="40" name="Turnos 40"/>
          <p:cNvSpPr/>
          <p:nvPr/>
        </p:nvSpPr>
        <p:spPr>
          <a:xfrm>
            <a:off x="530000" y="2720000"/>
            <a:ext cx="29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1  llega Ana</a:t>
            </a:r>
            <a:endParaRPr/>
          </a:p>
        </p:txBody>
      </p:sp>
      <p:sp>
        <p:nvSpPr>
          <p:cNvPr id="41" name="Turnos 41"/>
          <p:cNvSpPr/>
          <p:nvPr/>
        </p:nvSpPr>
        <p:spPr>
          <a:xfrm>
            <a:off x="3530000" y="2720000"/>
            <a:ext cx="41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[Ana]</a:t>
            </a:r>
            <a:endParaRPr/>
          </a:p>
        </p:txBody>
      </p:sp>
      <p:sp>
        <p:nvSpPr>
          <p:cNvPr id="42" name="Turnos 42"/>
          <p:cNvSpPr/>
          <p:nvPr/>
        </p:nvSpPr>
        <p:spPr>
          <a:xfrm>
            <a:off x="7730000" y="2720000"/>
            <a:ext cx="388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43" name="Turnos 43"/>
          <p:cNvSpPr/>
          <p:nvPr/>
        </p:nvSpPr>
        <p:spPr>
          <a:xfrm>
            <a:off x="530000" y="3235000"/>
            <a:ext cx="29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2  llega Luis</a:t>
            </a:r>
            <a:endParaRPr/>
          </a:p>
        </p:txBody>
      </p:sp>
      <p:sp>
        <p:nvSpPr>
          <p:cNvPr id="44" name="Turnos 44"/>
          <p:cNvSpPr/>
          <p:nvPr/>
        </p:nvSpPr>
        <p:spPr>
          <a:xfrm>
            <a:off x="3530000" y="3235000"/>
            <a:ext cx="41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Luis]</a:t>
            </a:r>
            <a:endParaRPr/>
          </a:p>
        </p:txBody>
      </p:sp>
      <p:sp>
        <p:nvSpPr>
          <p:cNvPr id="45" name="Turnos 45"/>
          <p:cNvSpPr/>
          <p:nvPr/>
        </p:nvSpPr>
        <p:spPr>
          <a:xfrm>
            <a:off x="7730000" y="3235000"/>
            <a:ext cx="388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46" name="Turnos 46"/>
          <p:cNvSpPr/>
          <p:nvPr/>
        </p:nvSpPr>
        <p:spPr>
          <a:xfrm>
            <a:off x="530000" y="3750000"/>
            <a:ext cx="29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3  siguiente</a:t>
            </a:r>
            <a:endParaRPr/>
          </a:p>
        </p:txBody>
      </p:sp>
      <p:sp>
        <p:nvSpPr>
          <p:cNvPr id="47" name="Turnos 47"/>
          <p:cNvSpPr/>
          <p:nvPr/>
        </p:nvSpPr>
        <p:spPr>
          <a:xfrm>
            <a:off x="3530000" y="3750000"/>
            <a:ext cx="41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Luis]</a:t>
            </a:r>
            <a:endParaRPr/>
          </a:p>
        </p:txBody>
      </p:sp>
      <p:sp>
        <p:nvSpPr>
          <p:cNvPr id="48" name="Turnos 48"/>
          <p:cNvSpPr/>
          <p:nvPr/>
        </p:nvSpPr>
        <p:spPr>
          <a:xfrm>
            <a:off x="7730000" y="3750000"/>
            <a:ext cx="388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[Ana]</a:t>
            </a:r>
            <a:endParaRPr/>
          </a:p>
        </p:txBody>
      </p:sp>
      <p:sp>
        <p:nvSpPr>
          <p:cNvPr id="49" name="Turnos 49"/>
          <p:cNvSpPr/>
          <p:nvPr/>
        </p:nvSpPr>
        <p:spPr>
          <a:xfrm>
            <a:off x="530000" y="4265000"/>
            <a:ext cx="29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4  llega Eva</a:t>
            </a:r>
            <a:endParaRPr/>
          </a:p>
        </p:txBody>
      </p:sp>
      <p:sp>
        <p:nvSpPr>
          <p:cNvPr id="50" name="Turnos 50"/>
          <p:cNvSpPr/>
          <p:nvPr/>
        </p:nvSpPr>
        <p:spPr>
          <a:xfrm>
            <a:off x="3530000" y="4265000"/>
            <a:ext cx="41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Luis, Eva]</a:t>
            </a:r>
            <a:endParaRPr/>
          </a:p>
        </p:txBody>
      </p:sp>
      <p:sp>
        <p:nvSpPr>
          <p:cNvPr id="51" name="Turnos 51"/>
          <p:cNvSpPr/>
          <p:nvPr/>
        </p:nvSpPr>
        <p:spPr>
          <a:xfrm>
            <a:off x="7730000" y="4265000"/>
            <a:ext cx="388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[Ana]</a:t>
            </a:r>
            <a:endParaRPr/>
          </a:p>
        </p:txBody>
      </p:sp>
      <p:sp>
        <p:nvSpPr>
          <p:cNvPr id="52" name="Turnos 52"/>
          <p:cNvSpPr/>
          <p:nvPr/>
        </p:nvSpPr>
        <p:spPr>
          <a:xfrm>
            <a:off x="530000" y="4780000"/>
            <a:ext cx="29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5  atiende</a:t>
            </a:r>
            <a:endParaRPr/>
          </a:p>
        </p:txBody>
      </p:sp>
      <p:sp>
        <p:nvSpPr>
          <p:cNvPr id="53" name="Turnos 53"/>
          <p:cNvSpPr/>
          <p:nvPr/>
        </p:nvSpPr>
        <p:spPr>
          <a:xfrm>
            <a:off x="3530000" y="4780000"/>
            <a:ext cx="41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[Luis, Eva]</a:t>
            </a:r>
            <a:endParaRPr/>
          </a:p>
        </p:txBody>
      </p:sp>
      <p:sp>
        <p:nvSpPr>
          <p:cNvPr id="54" name="Turnos 54"/>
          <p:cNvSpPr/>
          <p:nvPr/>
        </p:nvSpPr>
        <p:spPr>
          <a:xfrm>
            <a:off x="7730000" y="4780000"/>
            <a:ext cx="388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Ana]</a:t>
            </a:r>
            <a:endParaRPr/>
          </a:p>
        </p:txBody>
      </p:sp>
      <p:sp>
        <p:nvSpPr>
          <p:cNvPr id="55" name="Turnos 55"/>
          <p:cNvSpPr/>
          <p:nvPr/>
        </p:nvSpPr>
        <p:spPr>
          <a:xfrm>
            <a:off x="530000" y="5295000"/>
            <a:ext cx="29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6  siguiente</a:t>
            </a:r>
            <a:endParaRPr/>
          </a:p>
        </p:txBody>
      </p:sp>
      <p:sp>
        <p:nvSpPr>
          <p:cNvPr id="56" name="Turnos 56"/>
          <p:cNvSpPr/>
          <p:nvPr/>
        </p:nvSpPr>
        <p:spPr>
          <a:xfrm>
            <a:off x="3530000" y="5295000"/>
            <a:ext cx="41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[Luis, Eva]</a:t>
            </a:r>
            <a:endParaRPr/>
          </a:p>
        </p:txBody>
      </p:sp>
      <p:sp>
        <p:nvSpPr>
          <p:cNvPr id="57" name="Turnos 57"/>
          <p:cNvSpPr/>
          <p:nvPr/>
        </p:nvSpPr>
        <p:spPr>
          <a:xfrm>
            <a:off x="7730000" y="5295000"/>
            <a:ext cx="388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 dirty="0">
                <a:solidFill>
                  <a:srgbClr val="333333"/>
                </a:solidFill>
                <a:latin typeface="Segoe UI"/>
              </a:rPr>
              <a:t>[Ana, Ana, Luis]</a:t>
            </a:r>
            <a:endParaRPr dirty="0"/>
          </a:p>
        </p:txBody>
      </p:sp>
      <p:sp>
        <p:nvSpPr>
          <p:cNvPr id="70" name="Turnos 70"/>
          <p:cNvSpPr/>
          <p:nvPr/>
        </p:nvSpPr>
        <p:spPr>
          <a:xfrm>
            <a:off x="520000" y="5940000"/>
            <a:ext cx="11160000" cy="40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450" b="1">
                <a:solidFill>
                  <a:srgbClr val="154360"/>
                </a:solidFill>
                <a:latin typeface="Segoe UI"/>
              </a:rPr>
              <a:t>En la orden 3, siguiente devuelve Ana pero la cola permanece [Ana, Luis].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Ejemplo completo: se vacía la cola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TRAZA · ÓRDENES 7–11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Turnos 30"/>
          <p:cNvSpPr/>
          <p:nvPr/>
        </p:nvSpPr>
        <p:spPr>
          <a:xfrm>
            <a:off x="490000" y="1750000"/>
            <a:ext cx="11100000" cy="44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00" b="1">
                <a:solidFill>
                  <a:srgbClr val="1A5276"/>
                </a:solidFill>
                <a:latin typeface="Segoe UI"/>
              </a:rPr>
              <a:t>Continuamos desde la cola [Luis, Eva] y el resultado [Ana, Ana, Luis].</a:t>
            </a:r>
            <a:endParaRPr/>
          </a:p>
        </p:txBody>
      </p:sp>
      <p:sp>
        <p:nvSpPr>
          <p:cNvPr id="31" name="Turnos 31"/>
          <p:cNvSpPr/>
          <p:nvPr/>
        </p:nvSpPr>
        <p:spPr>
          <a:xfrm>
            <a:off x="530000" y="2230000"/>
            <a:ext cx="29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Orden recibida</a:t>
            </a:r>
            <a:endParaRPr/>
          </a:p>
        </p:txBody>
      </p:sp>
      <p:sp>
        <p:nvSpPr>
          <p:cNvPr id="32" name="Turnos 32"/>
          <p:cNvSpPr/>
          <p:nvPr/>
        </p:nvSpPr>
        <p:spPr>
          <a:xfrm>
            <a:off x="3530000" y="2230000"/>
            <a:ext cx="41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Cola después</a:t>
            </a:r>
            <a:endParaRPr/>
          </a:p>
        </p:txBody>
      </p:sp>
      <p:sp>
        <p:nvSpPr>
          <p:cNvPr id="33" name="Turnos 33"/>
          <p:cNvSpPr/>
          <p:nvPr/>
        </p:nvSpPr>
        <p:spPr>
          <a:xfrm>
            <a:off x="7730000" y="2276227"/>
            <a:ext cx="3880000" cy="357545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 dirty="0">
                <a:solidFill>
                  <a:srgbClr val="FFFFFF"/>
                </a:solidFill>
                <a:latin typeface="Segoe UI"/>
              </a:rPr>
              <a:t>Resultado</a:t>
            </a:r>
            <a:endParaRPr dirty="0"/>
          </a:p>
        </p:txBody>
      </p:sp>
      <p:sp>
        <p:nvSpPr>
          <p:cNvPr id="40" name="Turnos 40"/>
          <p:cNvSpPr/>
          <p:nvPr/>
        </p:nvSpPr>
        <p:spPr>
          <a:xfrm>
            <a:off x="530000" y="2720000"/>
            <a:ext cx="29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7  atiende</a:t>
            </a:r>
            <a:endParaRPr/>
          </a:p>
        </p:txBody>
      </p:sp>
      <p:sp>
        <p:nvSpPr>
          <p:cNvPr id="41" name="Turnos 41"/>
          <p:cNvSpPr/>
          <p:nvPr/>
        </p:nvSpPr>
        <p:spPr>
          <a:xfrm>
            <a:off x="3530000" y="2720000"/>
            <a:ext cx="41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[Eva]</a:t>
            </a:r>
            <a:endParaRPr/>
          </a:p>
        </p:txBody>
      </p:sp>
      <p:sp>
        <p:nvSpPr>
          <p:cNvPr id="42" name="Turnos 42"/>
          <p:cNvSpPr/>
          <p:nvPr/>
        </p:nvSpPr>
        <p:spPr>
          <a:xfrm>
            <a:off x="7730000" y="2771971"/>
            <a:ext cx="3880000" cy="366058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dirty="0">
                <a:solidFill>
                  <a:srgbClr val="333333"/>
                </a:solidFill>
                <a:latin typeface="Segoe UI"/>
              </a:rPr>
              <a:t>[Ana, Ana, Luis, Luis]</a:t>
            </a:r>
            <a:endParaRPr lang="es-ES" sz="1600" dirty="0"/>
          </a:p>
        </p:txBody>
      </p:sp>
      <p:sp>
        <p:nvSpPr>
          <p:cNvPr id="43" name="Turnos 43"/>
          <p:cNvSpPr/>
          <p:nvPr/>
        </p:nvSpPr>
        <p:spPr>
          <a:xfrm>
            <a:off x="530000" y="3260000"/>
            <a:ext cx="29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8  llega Paco</a:t>
            </a:r>
            <a:endParaRPr/>
          </a:p>
        </p:txBody>
      </p:sp>
      <p:sp>
        <p:nvSpPr>
          <p:cNvPr id="44" name="Turnos 44"/>
          <p:cNvSpPr/>
          <p:nvPr/>
        </p:nvSpPr>
        <p:spPr>
          <a:xfrm>
            <a:off x="3530000" y="3260000"/>
            <a:ext cx="41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[Eva, Paco]</a:t>
            </a:r>
            <a:endParaRPr/>
          </a:p>
        </p:txBody>
      </p:sp>
      <p:sp>
        <p:nvSpPr>
          <p:cNvPr id="45" name="Turnos 45"/>
          <p:cNvSpPr/>
          <p:nvPr/>
        </p:nvSpPr>
        <p:spPr>
          <a:xfrm>
            <a:off x="7730000" y="3311971"/>
            <a:ext cx="3880000" cy="366058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dirty="0">
                <a:solidFill>
                  <a:srgbClr val="333333"/>
                </a:solidFill>
                <a:latin typeface="Segoe UI"/>
              </a:rPr>
              <a:t>[Ana, Ana, Luis, Luis]</a:t>
            </a:r>
            <a:endParaRPr lang="es-ES" sz="1600" dirty="0"/>
          </a:p>
        </p:txBody>
      </p:sp>
      <p:sp>
        <p:nvSpPr>
          <p:cNvPr id="46" name="Turnos 46"/>
          <p:cNvSpPr/>
          <p:nvPr/>
        </p:nvSpPr>
        <p:spPr>
          <a:xfrm>
            <a:off x="530000" y="3800000"/>
            <a:ext cx="29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9  atiende</a:t>
            </a:r>
            <a:endParaRPr/>
          </a:p>
        </p:txBody>
      </p:sp>
      <p:sp>
        <p:nvSpPr>
          <p:cNvPr id="47" name="Turnos 47"/>
          <p:cNvSpPr/>
          <p:nvPr/>
        </p:nvSpPr>
        <p:spPr>
          <a:xfrm>
            <a:off x="3530000" y="3800000"/>
            <a:ext cx="41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[Paco]</a:t>
            </a:r>
            <a:endParaRPr/>
          </a:p>
        </p:txBody>
      </p:sp>
      <p:sp>
        <p:nvSpPr>
          <p:cNvPr id="48" name="Turnos 48"/>
          <p:cNvSpPr/>
          <p:nvPr/>
        </p:nvSpPr>
        <p:spPr>
          <a:xfrm>
            <a:off x="7730000" y="3851971"/>
            <a:ext cx="3880000" cy="366058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dirty="0">
                <a:solidFill>
                  <a:srgbClr val="333333"/>
                </a:solidFill>
                <a:latin typeface="Segoe UI"/>
              </a:rPr>
              <a:t>[Ana, Ana, Luis, </a:t>
            </a:r>
            <a:r>
              <a:rPr lang="es-ES" sz="1550" dirty="0" err="1">
                <a:solidFill>
                  <a:srgbClr val="333333"/>
                </a:solidFill>
                <a:latin typeface="Segoe UI"/>
              </a:rPr>
              <a:t>Luis,Eva</a:t>
            </a:r>
            <a:r>
              <a:rPr lang="es-ES" sz="1550" dirty="0">
                <a:solidFill>
                  <a:srgbClr val="333333"/>
                </a:solidFill>
                <a:latin typeface="Segoe UI"/>
              </a:rPr>
              <a:t>]</a:t>
            </a:r>
            <a:endParaRPr lang="es-ES" sz="1600" dirty="0"/>
          </a:p>
        </p:txBody>
      </p:sp>
      <p:sp>
        <p:nvSpPr>
          <p:cNvPr id="49" name="Turnos 49"/>
          <p:cNvSpPr/>
          <p:nvPr/>
        </p:nvSpPr>
        <p:spPr>
          <a:xfrm>
            <a:off x="530000" y="4340000"/>
            <a:ext cx="29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10 atiende</a:t>
            </a:r>
            <a:endParaRPr/>
          </a:p>
        </p:txBody>
      </p:sp>
      <p:sp>
        <p:nvSpPr>
          <p:cNvPr id="50" name="Turnos 50"/>
          <p:cNvSpPr/>
          <p:nvPr/>
        </p:nvSpPr>
        <p:spPr>
          <a:xfrm>
            <a:off x="3530000" y="4340000"/>
            <a:ext cx="41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51" name="Turnos 51"/>
          <p:cNvSpPr/>
          <p:nvPr/>
        </p:nvSpPr>
        <p:spPr>
          <a:xfrm>
            <a:off x="7730000" y="4391971"/>
            <a:ext cx="3880000" cy="366058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dirty="0">
                <a:solidFill>
                  <a:srgbClr val="333333"/>
                </a:solidFill>
                <a:latin typeface="Segoe UI"/>
              </a:rPr>
              <a:t>[Ana, Ana, Luis, Luis, Paco]</a:t>
            </a:r>
            <a:endParaRPr lang="es-ES" sz="1600" dirty="0"/>
          </a:p>
        </p:txBody>
      </p:sp>
      <p:sp>
        <p:nvSpPr>
          <p:cNvPr id="52" name="Turnos 52"/>
          <p:cNvSpPr/>
          <p:nvPr/>
        </p:nvSpPr>
        <p:spPr>
          <a:xfrm>
            <a:off x="530000" y="4880000"/>
            <a:ext cx="29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11 atiende</a:t>
            </a:r>
            <a:endParaRPr/>
          </a:p>
        </p:txBody>
      </p:sp>
      <p:sp>
        <p:nvSpPr>
          <p:cNvPr id="53" name="Turnos 53"/>
          <p:cNvSpPr/>
          <p:nvPr/>
        </p:nvSpPr>
        <p:spPr>
          <a:xfrm>
            <a:off x="3530000" y="4880000"/>
            <a:ext cx="41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54" name="Turnos 54"/>
          <p:cNvSpPr/>
          <p:nvPr/>
        </p:nvSpPr>
        <p:spPr>
          <a:xfrm>
            <a:off x="7730000" y="4931971"/>
            <a:ext cx="3880000" cy="366058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dirty="0">
                <a:solidFill>
                  <a:srgbClr val="333333"/>
                </a:solidFill>
                <a:latin typeface="Segoe UI"/>
              </a:rPr>
              <a:t>[Ana, Ana, Luis, Luis, Paco, VACIA]</a:t>
            </a:r>
            <a:endParaRPr lang="es-ES" sz="1600" dirty="0"/>
          </a:p>
        </p:txBody>
      </p:sp>
      <p:sp>
        <p:nvSpPr>
          <p:cNvPr id="70" name="Turnos 70"/>
          <p:cNvSpPr/>
          <p:nvPr/>
        </p:nvSpPr>
        <p:spPr>
          <a:xfrm>
            <a:off x="520000" y="5660000"/>
            <a:ext cx="11160000" cy="62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00" b="1">
                <a:solidFill>
                  <a:srgbClr val="154360"/>
                </a:solidFill>
                <a:latin typeface="Segoe UI"/>
              </a:rPr>
              <a:t>Resultado final: ['Ana', 'Ana', 'Luis', 'Luis', 'Eva', 'Paco', 'VACIA']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2343</TotalTime>
  <Words>1107</Words>
  <Application>Microsoft Office PowerPoint</Application>
  <PresentationFormat>Personalizado</PresentationFormat>
  <Paragraphs>172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Pablo Reina</dc:creator>
  <cp:keywords/>
  <dc:description>generated using python-pptx</dc:description>
  <cp:lastModifiedBy>ANTONIO MANUEL GUTIERREZ FERNANDEZ</cp:lastModifiedBy>
  <cp:revision>82</cp:revision>
  <dcterms:created xsi:type="dcterms:W3CDTF">2013-01-27T09:14:16Z</dcterms:created>
  <dcterms:modified xsi:type="dcterms:W3CDTF">2026-10-19T11:53:34Z</dcterms:modified>
  <cp:category/>
</cp:coreProperties>
</file>