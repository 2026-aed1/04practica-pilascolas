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7" r:id="rId4"/>
    <p:sldId id="271" r:id="rId5"/>
    <p:sldId id="259" r:id="rId6"/>
    <p:sldId id="258" r:id="rId7"/>
    <p:sldId id="279" r:id="rId8"/>
    <p:sldId id="260" r:id="rId9"/>
    <p:sldId id="288" r:id="rId10"/>
    <p:sldId id="312" r:id="rId11"/>
    <p:sldId id="313" r:id="rId12"/>
    <p:sldId id="289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154360"/>
    <a:srgbClr val="AAAAAA"/>
    <a:srgbClr val="999999"/>
    <a:srgbClr val="FFD43B"/>
    <a:srgbClr val="F1C4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814" autoAdjust="0"/>
  </p:normalViewPr>
  <p:slideViewPr>
    <p:cSldViewPr snapToGrid="0" snapToObjects="1">
      <p:cViewPr varScale="1">
        <p:scale>
          <a:sx n="55" d="100"/>
          <a:sy n="55" d="100"/>
        </p:scale>
        <p:origin x="102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REINA JIMENEZ" userId="11481fb6-70c1-4284-90c0-f8ebfd404008" providerId="ADAL" clId="{77E9FAC6-DFD0-4027-9128-ADE6749AE15C}"/>
    <pc:docChg chg="undo custSel delSld modSld">
      <pc:chgData name="PABLO REINA JIMENEZ" userId="11481fb6-70c1-4284-90c0-f8ebfd404008" providerId="ADAL" clId="{77E9FAC6-DFD0-4027-9128-ADE6749AE15C}" dt="2026-10-19T10:03:41.456" v="354" actId="20577"/>
      <pc:docMkLst>
        <pc:docMk/>
      </pc:docMkLst>
      <pc:sldChg chg="addSp delSp mod">
        <pc:chgData name="PABLO REINA JIMENEZ" userId="11481fb6-70c1-4284-90c0-f8ebfd404008" providerId="ADAL" clId="{77E9FAC6-DFD0-4027-9128-ADE6749AE15C}" dt="2026-10-13T16:16:33.785" v="3" actId="478"/>
        <pc:sldMkLst>
          <pc:docMk/>
          <pc:sldMk cId="0" sldId="256"/>
        </pc:sldMkLst>
        <pc:spChg chg="add">
          <ac:chgData name="PABLO REINA JIMENEZ" userId="11481fb6-70c1-4284-90c0-f8ebfd404008" providerId="ADAL" clId="{77E9FAC6-DFD0-4027-9128-ADE6749AE15C}" dt="2026-10-13T16:16:31.765" v="2" actId="22"/>
          <ac:spMkLst>
            <pc:docMk/>
            <pc:sldMk cId="0" sldId="256"/>
            <ac:spMk id="8" creationId="{4AA9042B-5163-D1AF-B6D0-C5310B8F994E}"/>
          </ac:spMkLst>
        </pc:spChg>
      </pc:sldChg>
      <pc:sldChg chg="modSp mod">
        <pc:chgData name="PABLO REINA JIMENEZ" userId="11481fb6-70c1-4284-90c0-f8ebfd404008" providerId="ADAL" clId="{77E9FAC6-DFD0-4027-9128-ADE6749AE15C}" dt="2026-10-13T16:39:39.072" v="277" actId="20577"/>
        <pc:sldMkLst>
          <pc:docMk/>
          <pc:sldMk cId="0" sldId="257"/>
        </pc:sldMkLst>
        <pc:spChg chg="mod">
          <ac:chgData name="PABLO REINA JIMENEZ" userId="11481fb6-70c1-4284-90c0-f8ebfd404008" providerId="ADAL" clId="{77E9FAC6-DFD0-4027-9128-ADE6749AE15C}" dt="2026-10-13T16:39:39.072" v="277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PABLO REINA JIMENEZ" userId="11481fb6-70c1-4284-90c0-f8ebfd404008" providerId="ADAL" clId="{77E9FAC6-DFD0-4027-9128-ADE6749AE15C}" dt="2026-10-13T16:18:04.390" v="72" actId="5793"/>
          <ac:spMkLst>
            <pc:docMk/>
            <pc:sldMk cId="0" sldId="257"/>
            <ac:spMk id="8" creationId="{00000000-0000-0000-0000-000000000000}"/>
          </ac:spMkLst>
        </pc:spChg>
      </pc:sldChg>
      <pc:sldChg chg="addSp delSp modSp mod">
        <pc:chgData name="PABLO REINA JIMENEZ" userId="11481fb6-70c1-4284-90c0-f8ebfd404008" providerId="ADAL" clId="{77E9FAC6-DFD0-4027-9128-ADE6749AE15C}" dt="2026-10-13T16:39:28.089" v="274" actId="20577"/>
        <pc:sldMkLst>
          <pc:docMk/>
          <pc:sldMk cId="0" sldId="258"/>
        </pc:sldMkLst>
        <pc:spChg chg="add mod">
          <ac:chgData name="PABLO REINA JIMENEZ" userId="11481fb6-70c1-4284-90c0-f8ebfd404008" providerId="ADAL" clId="{77E9FAC6-DFD0-4027-9128-ADE6749AE15C}" dt="2026-10-13T16:39:28.089" v="274" actId="20577"/>
          <ac:spMkLst>
            <pc:docMk/>
            <pc:sldMk cId="0" sldId="258"/>
            <ac:spMk id="10" creationId="{7210E506-6CD0-338F-787C-9DA8B1387A95}"/>
          </ac:spMkLst>
        </pc:spChg>
        <pc:graphicFrameChg chg="mod modGraphic">
          <ac:chgData name="PABLO REINA JIMENEZ" userId="11481fb6-70c1-4284-90c0-f8ebfd404008" providerId="ADAL" clId="{77E9FAC6-DFD0-4027-9128-ADE6749AE15C}" dt="2026-10-13T16:28:46.760" v="253" actId="2165"/>
          <ac:graphicFrameMkLst>
            <pc:docMk/>
            <pc:sldMk cId="0" sldId="258"/>
            <ac:graphicFrameMk id="20" creationId="{C4701EBD-D9D7-FEC2-AFB9-D3BA758B2304}"/>
          </ac:graphicFrameMkLst>
        </pc:graphicFrameChg>
      </pc:sldChg>
      <pc:sldChg chg="addSp delSp modSp mod">
        <pc:chgData name="PABLO REINA JIMENEZ" userId="11481fb6-70c1-4284-90c0-f8ebfd404008" providerId="ADAL" clId="{77E9FAC6-DFD0-4027-9128-ADE6749AE15C}" dt="2026-10-13T16:43:51.652" v="352" actId="1076"/>
        <pc:sldMkLst>
          <pc:docMk/>
          <pc:sldMk cId="0" sldId="259"/>
        </pc:sldMkLst>
        <pc:spChg chg="add del">
          <ac:chgData name="PABLO REINA JIMENEZ" userId="11481fb6-70c1-4284-90c0-f8ebfd404008" providerId="ADAL" clId="{77E9FAC6-DFD0-4027-9128-ADE6749AE15C}" dt="2026-10-13T16:16:53.258" v="13" actId="478"/>
          <ac:spMkLst>
            <pc:docMk/>
            <pc:sldMk cId="0" sldId="259"/>
            <ac:spMk id="5" creationId="{00000000-0000-0000-0000-000000000000}"/>
          </ac:spMkLst>
        </pc:spChg>
        <pc:spChg chg="add">
          <ac:chgData name="PABLO REINA JIMENEZ" userId="11481fb6-70c1-4284-90c0-f8ebfd404008" providerId="ADAL" clId="{77E9FAC6-DFD0-4027-9128-ADE6749AE15C}" dt="2026-10-13T16:16:54.800" v="15" actId="22"/>
          <ac:spMkLst>
            <pc:docMk/>
            <pc:sldMk cId="0" sldId="259"/>
            <ac:spMk id="12" creationId="{B28D9FBE-BDE2-1401-7E53-B0EA17C84B80}"/>
          </ac:spMkLst>
        </pc:spChg>
        <pc:spChg chg="mod">
          <ac:chgData name="PABLO REINA JIMENEZ" userId="11481fb6-70c1-4284-90c0-f8ebfd404008" providerId="ADAL" clId="{77E9FAC6-DFD0-4027-9128-ADE6749AE15C}" dt="2026-10-13T16:43:30.867" v="349" actId="6549"/>
          <ac:spMkLst>
            <pc:docMk/>
            <pc:sldMk cId="0" sldId="259"/>
            <ac:spMk id="30" creationId="{00000000-0000-0000-0000-000000000000}"/>
          </ac:spMkLst>
        </pc:spChg>
        <pc:spChg chg="mod">
          <ac:chgData name="PABLO REINA JIMENEZ" userId="11481fb6-70c1-4284-90c0-f8ebfd404008" providerId="ADAL" clId="{77E9FAC6-DFD0-4027-9128-ADE6749AE15C}" dt="2026-10-13T16:43:51.652" v="352" actId="1076"/>
          <ac:spMkLst>
            <pc:docMk/>
            <pc:sldMk cId="0" sldId="259"/>
            <ac:spMk id="40" creationId="{00000000-0000-0000-0000-000000000000}"/>
          </ac:spMkLst>
        </pc:spChg>
      </pc:sldChg>
      <pc:sldChg chg="addSp delSp modSp mod">
        <pc:chgData name="PABLO REINA JIMENEZ" userId="11481fb6-70c1-4284-90c0-f8ebfd404008" providerId="ADAL" clId="{77E9FAC6-DFD0-4027-9128-ADE6749AE15C}" dt="2026-10-13T16:39:22.944" v="273" actId="20577"/>
        <pc:sldMkLst>
          <pc:docMk/>
          <pc:sldMk cId="0" sldId="260"/>
        </pc:sldMkLst>
        <pc:spChg chg="add mod">
          <ac:chgData name="PABLO REINA JIMENEZ" userId="11481fb6-70c1-4284-90c0-f8ebfd404008" providerId="ADAL" clId="{77E9FAC6-DFD0-4027-9128-ADE6749AE15C}" dt="2026-10-13T16:39:22.944" v="273" actId="20577"/>
          <ac:spMkLst>
            <pc:docMk/>
            <pc:sldMk cId="0" sldId="260"/>
            <ac:spMk id="10" creationId="{E8879C8E-9025-A15F-A771-E5F52A57E00A}"/>
          </ac:spMkLst>
        </pc:spChg>
      </pc:sldChg>
      <pc:sldChg chg="addSp delSp mod">
        <pc:chgData name="PABLO REINA JIMENEZ" userId="11481fb6-70c1-4284-90c0-f8ebfd404008" providerId="ADAL" clId="{77E9FAC6-DFD0-4027-9128-ADE6749AE15C}" dt="2026-10-13T16:42:29.618" v="280" actId="478"/>
        <pc:sldMkLst>
          <pc:docMk/>
          <pc:sldMk cId="0" sldId="271"/>
        </pc:sldMkLst>
        <pc:spChg chg="add">
          <ac:chgData name="PABLO REINA JIMENEZ" userId="11481fb6-70c1-4284-90c0-f8ebfd404008" providerId="ADAL" clId="{77E9FAC6-DFD0-4027-9128-ADE6749AE15C}" dt="2026-10-13T16:16:49.792" v="9" actId="22"/>
          <ac:spMkLst>
            <pc:docMk/>
            <pc:sldMk cId="0" sldId="271"/>
            <ac:spMk id="10" creationId="{768BDCD1-8762-D4E8-589F-F5E802498DE5}"/>
          </ac:spMkLst>
        </pc:spChg>
      </pc:sldChg>
      <pc:sldChg chg="addSp delSp modSp mod">
        <pc:chgData name="PABLO REINA JIMENEZ" userId="11481fb6-70c1-4284-90c0-f8ebfd404008" providerId="ADAL" clId="{77E9FAC6-DFD0-4027-9128-ADE6749AE15C}" dt="2026-10-19T10:03:41.456" v="354" actId="20577"/>
        <pc:sldMkLst>
          <pc:docMk/>
          <pc:sldMk cId="0" sldId="277"/>
        </pc:sldMkLst>
        <pc:spChg chg="add mod">
          <ac:chgData name="PABLO REINA JIMENEZ" userId="11481fb6-70c1-4284-90c0-f8ebfd404008" providerId="ADAL" clId="{77E9FAC6-DFD0-4027-9128-ADE6749AE15C}" dt="2026-10-13T16:16:45.648" v="7" actId="20577"/>
          <ac:spMkLst>
            <pc:docMk/>
            <pc:sldMk cId="0" sldId="277"/>
            <ac:spMk id="10" creationId="{5FC6FAD6-748E-A6CC-99DE-22501D24437D}"/>
          </ac:spMkLst>
        </pc:spChg>
        <pc:graphicFrameChg chg="add mod modGraphic">
          <ac:chgData name="PABLO REINA JIMENEZ" userId="11481fb6-70c1-4284-90c0-f8ebfd404008" providerId="ADAL" clId="{77E9FAC6-DFD0-4027-9128-ADE6749AE15C}" dt="2026-10-19T10:03:41.456" v="354" actId="20577"/>
          <ac:graphicFrameMkLst>
            <pc:docMk/>
            <pc:sldMk cId="0" sldId="277"/>
            <ac:graphicFrameMk id="13" creationId="{C4701EBD-D9D7-FEC2-AFB9-D3BA758B2304}"/>
          </ac:graphicFrameMkLst>
        </pc:graphicFrameChg>
      </pc:sldChg>
      <pc:sldChg chg="addSp delSp modSp mod">
        <pc:chgData name="PABLO REINA JIMENEZ" userId="11481fb6-70c1-4284-90c0-f8ebfd404008" providerId="ADAL" clId="{77E9FAC6-DFD0-4027-9128-ADE6749AE15C}" dt="2026-10-13T16:31:25.577" v="262" actId="20577"/>
        <pc:sldMkLst>
          <pc:docMk/>
          <pc:sldMk cId="0" sldId="279"/>
        </pc:sldMkLst>
        <pc:spChg chg="mod">
          <ac:chgData name="PABLO REINA JIMENEZ" userId="11481fb6-70c1-4284-90c0-f8ebfd404008" providerId="ADAL" clId="{77E9FAC6-DFD0-4027-9128-ADE6749AE15C}" dt="2026-10-13T16:31:25.577" v="262" actId="20577"/>
          <ac:spMkLst>
            <pc:docMk/>
            <pc:sldMk cId="0" sldId="279"/>
            <ac:spMk id="8" creationId="{00000000-0000-0000-0000-000000000000}"/>
          </ac:spMkLst>
        </pc:spChg>
        <pc:spChg chg="add">
          <ac:chgData name="PABLO REINA JIMENEZ" userId="11481fb6-70c1-4284-90c0-f8ebfd404008" providerId="ADAL" clId="{77E9FAC6-DFD0-4027-9128-ADE6749AE15C}" dt="2026-10-13T16:17:05.540" v="21" actId="22"/>
          <ac:spMkLst>
            <pc:docMk/>
            <pc:sldMk cId="0" sldId="279"/>
            <ac:spMk id="13" creationId="{DDD91925-AEB1-55E8-DB97-D6016962024E}"/>
          </ac:spMkLst>
        </pc:spChg>
      </pc:sldChg>
      <pc:sldChg chg="addSp delSp modSp mod">
        <pc:chgData name="PABLO REINA JIMENEZ" userId="11481fb6-70c1-4284-90c0-f8ebfd404008" providerId="ADAL" clId="{77E9FAC6-DFD0-4027-9128-ADE6749AE15C}" dt="2026-10-13T16:39:19.898" v="272" actId="20577"/>
        <pc:sldMkLst>
          <pc:docMk/>
          <pc:sldMk cId="0" sldId="288"/>
        </pc:sldMkLst>
        <pc:spChg chg="add mod">
          <ac:chgData name="PABLO REINA JIMENEZ" userId="11481fb6-70c1-4284-90c0-f8ebfd404008" providerId="ADAL" clId="{77E9FAC6-DFD0-4027-9128-ADE6749AE15C}" dt="2026-10-13T16:39:19.898" v="272" actId="20577"/>
          <ac:spMkLst>
            <pc:docMk/>
            <pc:sldMk cId="0" sldId="288"/>
            <ac:spMk id="10" creationId="{B3B3208D-19BF-9150-228E-75AB9176670B}"/>
          </ac:spMkLst>
        </pc:spChg>
        <pc:spChg chg="mod">
          <ac:chgData name="PABLO REINA JIMENEZ" userId="11481fb6-70c1-4284-90c0-f8ebfd404008" providerId="ADAL" clId="{77E9FAC6-DFD0-4027-9128-ADE6749AE15C}" dt="2026-10-13T16:38:27.496" v="267" actId="1076"/>
          <ac:spMkLst>
            <pc:docMk/>
            <pc:sldMk cId="0" sldId="288"/>
            <ac:spMk id="37" creationId="{00000000-0000-0000-0000-000000000000}"/>
          </ac:spMkLst>
        </pc:spChg>
        <pc:spChg chg="mod">
          <ac:chgData name="PABLO REINA JIMENEZ" userId="11481fb6-70c1-4284-90c0-f8ebfd404008" providerId="ADAL" clId="{77E9FAC6-DFD0-4027-9128-ADE6749AE15C}" dt="2026-10-13T16:38:24.070" v="266" actId="1076"/>
          <ac:spMkLst>
            <pc:docMk/>
            <pc:sldMk cId="0" sldId="288"/>
            <ac:spMk id="38" creationId="{00000000-0000-0000-0000-000000000000}"/>
          </ac:spMkLst>
        </pc:spChg>
      </pc:sldChg>
      <pc:sldChg chg="delSp modSp mod">
        <pc:chgData name="PABLO REINA JIMENEZ" userId="11481fb6-70c1-4284-90c0-f8ebfd404008" providerId="ADAL" clId="{77E9FAC6-DFD0-4027-9128-ADE6749AE15C}" dt="2026-10-13T16:39:16.371" v="271" actId="1076"/>
        <pc:sldMkLst>
          <pc:docMk/>
          <pc:sldMk cId="0" sldId="289"/>
        </pc:sldMkLst>
        <pc:spChg chg="mod">
          <ac:chgData name="PABLO REINA JIMENEZ" userId="11481fb6-70c1-4284-90c0-f8ebfd404008" providerId="ADAL" clId="{77E9FAC6-DFD0-4027-9128-ADE6749AE15C}" dt="2026-10-13T16:39:16.371" v="271" actId="1076"/>
          <ac:spMkLst>
            <pc:docMk/>
            <pc:sldMk cId="0" sldId="289"/>
            <ac:spMk id="2" creationId="{00000000-0000-0000-0000-000000000000}"/>
          </ac:spMkLst>
        </pc:spChg>
        <pc:spChg chg="mod">
          <ac:chgData name="PABLO REINA JIMENEZ" userId="11481fb6-70c1-4284-90c0-f8ebfd404008" providerId="ADAL" clId="{77E9FAC6-DFD0-4027-9128-ADE6749AE15C}" dt="2026-10-13T16:39:16.371" v="271" actId="1076"/>
          <ac:spMkLst>
            <pc:docMk/>
            <pc:sldMk cId="0" sldId="289"/>
            <ac:spMk id="3" creationId="{00000000-0000-0000-0000-000000000000}"/>
          </ac:spMkLst>
        </pc:spChg>
        <pc:spChg chg="del">
          <ac:chgData name="PABLO REINA JIMENEZ" userId="11481fb6-70c1-4284-90c0-f8ebfd404008" providerId="ADAL" clId="{77E9FAC6-DFD0-4027-9128-ADE6749AE15C}" dt="2026-10-13T16:38:51.602" v="269" actId="478"/>
          <ac:spMkLst>
            <pc:docMk/>
            <pc:sldMk cId="0" sldId="289"/>
            <ac:spMk id="4" creationId="{00000000-0000-0000-0000-000000000000}"/>
          </ac:spMkLst>
        </pc:spChg>
        <pc:spChg chg="del">
          <ac:chgData name="PABLO REINA JIMENEZ" userId="11481fb6-70c1-4284-90c0-f8ebfd404008" providerId="ADAL" clId="{77E9FAC6-DFD0-4027-9128-ADE6749AE15C}" dt="2026-10-13T16:38:49.183" v="268" actId="478"/>
          <ac:spMkLst>
            <pc:docMk/>
            <pc:sldMk cId="0" sldId="28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43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900000" y="2000000"/>
            <a:ext cx="104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700" b="1">
                <a:solidFill>
                  <a:srgbClr val="FFFFFF"/>
                </a:solidFill>
                <a:latin typeface="Segoe UI"/>
              </a:rPr>
              <a:t>Práctica 4: Pilas y Colas</a:t>
            </a:r>
            <a:endParaRPr/>
          </a:p>
        </p:txBody>
      </p:sp>
      <p:sp>
        <p:nvSpPr>
          <p:cNvPr id="3" name="Acento 3"/>
          <p:cNvSpPr/>
          <p:nvPr/>
        </p:nvSpPr>
        <p:spPr>
          <a:xfrm>
            <a:off x="3600000" y="3100000"/>
            <a:ext cx="4800000" cy="280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4AA9042B-5163-D1AF-B6D0-C5310B8F994E}"/>
              </a:ext>
            </a:extLst>
          </p:cNvPr>
          <p:cNvSpPr txBox="1"/>
          <p:nvPr/>
        </p:nvSpPr>
        <p:spPr>
          <a:xfrm>
            <a:off x="914400" y="4572000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F1C40F"/>
                </a:solidFill>
                <a:latin typeface="Segoe UI"/>
                <a:ea typeface="Segoe UI"/>
                <a:cs typeface="Segoe UI"/>
              </a:rPr>
              <a:t>AED I — Bloque I</a:t>
            </a:r>
            <a:endParaRPr lang="es-ES" sz="2000" b="0" i="0" dirty="0">
              <a:solidFill>
                <a:srgbClr val="F1C40F"/>
              </a:solidFill>
              <a:latin typeface="Segoe UI"/>
              <a:ea typeface="Segoe UI"/>
              <a:cs typeface="Segoe UI"/>
            </a:endParaRPr>
          </a:p>
          <a:p>
            <a:pPr algn="ctr"/>
            <a:r>
              <a:rPr lang="es-ES" sz="1400" dirty="0">
                <a:solidFill>
                  <a:srgbClr val="AAAAA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 h en clase + ~1 h en casa · Python</a:t>
            </a:r>
            <a:r>
              <a:rPr sz="1400" b="0" i="0" dirty="0">
                <a:solidFill>
                  <a:srgbClr val="AAAAAA"/>
                </a:solidFill>
                <a:latin typeface="Segoe UI" panose="020B0502040204020203" pitchFamily="34" charset="0"/>
                <a:ea typeface="Segoe UI"/>
                <a:cs typeface="Segoe UI" panose="020B0502040204020203" pitchFamily="34" charset="0"/>
              </a:rPr>
              <a:t> </a:t>
            </a:r>
            <a:endParaRPr lang="es-ES" sz="1400" b="0" i="0" dirty="0">
              <a:solidFill>
                <a:srgbClr val="AAAAAA"/>
              </a:solidFill>
              <a:latin typeface="Segoe UI" panose="020B0502040204020203" pitchFamily="34" charset="0"/>
              <a:ea typeface="Segoe UI"/>
              <a:cs typeface="Segoe UI" panose="020B0502040204020203" pitchFamily="34" charset="0"/>
            </a:endParaRPr>
          </a:p>
          <a:p>
            <a:pPr algn="ctr"/>
            <a:r>
              <a:rPr sz="1400" b="0" i="0" dirty="0" err="1">
                <a:solidFill>
                  <a:srgbClr val="999999"/>
                </a:solidFill>
                <a:latin typeface="Segoe UI"/>
                <a:ea typeface="Segoe UI"/>
                <a:cs typeface="Segoe UI"/>
              </a:rPr>
              <a:t>Algoritm</a:t>
            </a:r>
            <a:r>
              <a:rPr lang="es-ES" sz="1400" b="0" i="0" dirty="0" err="1">
                <a:solidFill>
                  <a:srgbClr val="999999"/>
                </a:solidFill>
                <a:latin typeface="Segoe UI"/>
                <a:ea typeface="Segoe UI"/>
                <a:cs typeface="Segoe UI"/>
              </a:rPr>
              <a:t>ia</a:t>
            </a:r>
            <a:r>
              <a:rPr sz="1400" b="0" i="0" dirty="0">
                <a:solidFill>
                  <a:srgbClr val="999999"/>
                </a:solidFill>
                <a:latin typeface="Segoe UI"/>
                <a:ea typeface="Segoe UI"/>
                <a:cs typeface="Segoe UI"/>
              </a:rPr>
              <a:t> y </a:t>
            </a:r>
            <a:r>
              <a:rPr sz="1400" b="0" i="0" dirty="0" err="1">
                <a:solidFill>
                  <a:srgbClr val="999999"/>
                </a:solidFill>
                <a:latin typeface="Segoe UI"/>
                <a:ea typeface="Segoe UI"/>
                <a:cs typeface="Segoe UI"/>
              </a:rPr>
              <a:t>Estructuras</a:t>
            </a:r>
            <a:r>
              <a:rPr sz="1400" b="0" i="0" dirty="0">
                <a:solidFill>
                  <a:srgbClr val="999999"/>
                </a:solidFill>
                <a:latin typeface="Segoe UI"/>
                <a:ea typeface="Segoe UI"/>
                <a:cs typeface="Segoe UI"/>
              </a:rPr>
              <a:t> de Datos | Ingeniería </a:t>
            </a:r>
            <a:r>
              <a:rPr sz="1400" b="0" i="0" dirty="0" err="1">
                <a:solidFill>
                  <a:srgbClr val="999999"/>
                </a:solidFill>
                <a:latin typeface="Segoe UI"/>
                <a:ea typeface="Segoe UI"/>
                <a:cs typeface="Segoe UI"/>
              </a:rPr>
              <a:t>Informática</a:t>
            </a:r>
            <a:r>
              <a:rPr sz="1400" b="0" i="0" dirty="0">
                <a:solidFill>
                  <a:srgbClr val="999999"/>
                </a:solidFill>
                <a:latin typeface="Segoe UI"/>
                <a:ea typeface="Segoe UI"/>
                <a:cs typeface="Segoe UI"/>
              </a:rPr>
              <a:t> – </a:t>
            </a:r>
            <a:r>
              <a:rPr sz="1400" b="0" i="0" dirty="0" err="1">
                <a:solidFill>
                  <a:srgbClr val="999999"/>
                </a:solidFill>
                <a:latin typeface="Segoe UI"/>
                <a:ea typeface="Segoe UI"/>
                <a:cs typeface="Segoe UI"/>
              </a:rPr>
              <a:t>Inteligencia</a:t>
            </a:r>
            <a:r>
              <a:rPr sz="1400" b="0" i="0" dirty="0">
                <a:solidFill>
                  <a:srgbClr val="999999"/>
                </a:solidFill>
                <a:latin typeface="Segoe UI"/>
                <a:ea typeface="Segoe UI"/>
                <a:cs typeface="Segoe UI"/>
              </a:rPr>
              <a:t> Artificial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ento 2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Acento 3"/>
          <p:cNvSpPr/>
          <p:nvPr/>
        </p:nvSpPr>
        <p:spPr>
          <a:xfrm>
            <a:off x="0" y="1170432"/>
            <a:ext cx="12192000" cy="1828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o 4"/>
          <p:cNvSpPr txBox="1"/>
          <p:nvPr/>
        </p:nvSpPr>
        <p:spPr>
          <a:xfrm>
            <a:off x="455000" y="180000"/>
            <a:ext cx="1128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3100" b="1">
                <a:solidFill>
                  <a:srgbClr val="FFFFFF"/>
                </a:solidFill>
                <a:latin typeface="Segoe UI"/>
              </a:rPr>
              <a:t>¿Qué vamos a hacer?</a:t>
            </a:r>
            <a:endParaRPr/>
          </a:p>
        </p:txBody>
      </p:sp>
      <p:sp>
        <p:nvSpPr>
          <p:cNvPr id="5" name="Acento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o 6"/>
          <p:cNvSpPr txBox="1"/>
          <p:nvPr/>
        </p:nvSpPr>
        <p:spPr>
          <a:xfrm>
            <a:off x="455000" y="6610000"/>
            <a:ext cx="112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0" dirty="0">
                <a:solidFill>
                  <a:srgbClr val="FFFFFF"/>
                </a:solidFill>
                <a:latin typeface="Segoe UI"/>
              </a:rPr>
              <a:t>Algoritmos y Estructuras de Datos | Práctica </a:t>
            </a:r>
            <a:r>
              <a:rPr lang="es-ES" sz="1000" dirty="0">
                <a:solidFill>
                  <a:srgbClr val="FFFFFF"/>
                </a:solidFill>
                <a:latin typeface="Segoe UI"/>
              </a:rPr>
              <a:t>4</a:t>
            </a:r>
            <a:endParaRPr dirty="0"/>
          </a:p>
        </p:txBody>
      </p:sp>
      <p:sp>
        <p:nvSpPr>
          <p:cNvPr id="7" name="Texto 7"/>
          <p:cNvSpPr txBox="1"/>
          <p:nvPr/>
        </p:nvSpPr>
        <p:spPr>
          <a:xfrm>
            <a:off x="480000" y="145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700" b="1">
                <a:solidFill>
                  <a:srgbClr val="1A5276"/>
                </a:solidFill>
                <a:latin typeface="Segoe UI"/>
              </a:rPr>
              <a:t>OBJETIVOS</a:t>
            </a:r>
            <a:endParaRPr/>
          </a:p>
        </p:txBody>
      </p:sp>
      <p:sp>
        <p:nvSpPr>
          <p:cNvPr id="8" name="Texto 8"/>
          <p:cNvSpPr txBox="1"/>
          <p:nvPr/>
        </p:nvSpPr>
        <p:spPr>
          <a:xfrm>
            <a:off x="455000" y="1940000"/>
            <a:ext cx="11100000" cy="262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AutoNum type="arabicPeriod"/>
            </a:pPr>
            <a:r>
              <a:rPr lang="es-ES" sz="1850" b="0" dirty="0">
                <a:solidFill>
                  <a:srgbClr val="333333"/>
                </a:solidFill>
                <a:latin typeface="Segoe UI"/>
              </a:rPr>
              <a:t>Recordar las operaciones de los TAD pila y cola y el orden en que salen sus elementos.</a:t>
            </a:r>
          </a:p>
          <a:p>
            <a:pPr marL="457200" indent="-457200" algn="l">
              <a:buAutoNum type="arabicPeriod"/>
            </a:pPr>
            <a:endParaRPr dirty="0"/>
          </a:p>
          <a:p>
            <a:pPr marL="457200" indent="-457200" algn="l">
              <a:buAutoNum type="arabicPeriod" startAt="2"/>
            </a:pPr>
            <a:r>
              <a:rPr lang="es-ES" sz="1850" b="0" dirty="0">
                <a:solidFill>
                  <a:srgbClr val="333333"/>
                </a:solidFill>
                <a:latin typeface="Segoe UI"/>
              </a:rPr>
              <a:t>Relacionar esos TAD con las interfaces de Python y C++.</a:t>
            </a:r>
          </a:p>
          <a:p>
            <a:pPr marL="342900" indent="-342900" algn="l">
              <a:buAutoNum type="arabicPeriod" startAt="2"/>
            </a:pPr>
            <a:endParaRPr dirty="0"/>
          </a:p>
          <a:p>
            <a:pPr marL="457200" indent="-457200" algn="l">
              <a:buAutoNum type="arabicPeriod" startAt="3"/>
            </a:pPr>
            <a:r>
              <a:rPr lang="es-ES" sz="1850" b="0" dirty="0">
                <a:solidFill>
                  <a:srgbClr val="333333"/>
                </a:solidFill>
                <a:latin typeface="Segoe UI"/>
              </a:rPr>
              <a:t>Resolver dos problemas: comprobar paréntesis anidados y gestionar turnos de atención.</a:t>
            </a:r>
          </a:p>
          <a:p>
            <a:pPr marL="342900" indent="-342900" algn="l">
              <a:buAutoNum type="arabicPeriod" startAt="3"/>
            </a:pPr>
            <a:endParaRPr dirty="0"/>
          </a:p>
          <a:p>
            <a:pPr marL="457200" indent="-457200" algn="l">
              <a:buAutoNum type="arabicPeriod" startAt="4"/>
            </a:pPr>
            <a:r>
              <a:rPr lang="es-ES" sz="1850" b="0" dirty="0">
                <a:solidFill>
                  <a:srgbClr val="333333"/>
                </a:solidFill>
                <a:latin typeface="Segoe UI"/>
              </a:rPr>
              <a:t>Comprobar casos límite con pruebas automáticas y justificar la complejidad.</a:t>
            </a:r>
          </a:p>
          <a:p>
            <a:pPr marL="342900" indent="-342900" algn="l">
              <a:buAutoNum type="arabicPeriod" startAt="4"/>
            </a:pPr>
            <a:endParaRPr dirty="0"/>
          </a:p>
          <a:p>
            <a:pPr algn="l"/>
            <a:r>
              <a:rPr lang="es-ES" sz="1850" b="0" dirty="0">
                <a:solidFill>
                  <a:srgbClr val="333333"/>
                </a:solidFill>
                <a:latin typeface="Segoe UI"/>
              </a:rPr>
              <a:t>5.	Cerrar con una </a:t>
            </a:r>
            <a:r>
              <a:rPr lang="es-ES" sz="1850" b="0" dirty="0" err="1">
                <a:solidFill>
                  <a:srgbClr val="333333"/>
                </a:solidFill>
                <a:latin typeface="Segoe UI"/>
              </a:rPr>
              <a:t>miniprueba</a:t>
            </a:r>
            <a:r>
              <a:rPr lang="es-ES" sz="1850" b="0" dirty="0">
                <a:solidFill>
                  <a:srgbClr val="333333"/>
                </a:solidFill>
                <a:latin typeface="Segoe UI"/>
              </a:rPr>
              <a:t> individual sobre listas, con contenidos anteriores a esta clase.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ento 2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Acento 3"/>
          <p:cNvSpPr/>
          <p:nvPr/>
        </p:nvSpPr>
        <p:spPr>
          <a:xfrm>
            <a:off x="0" y="1170432"/>
            <a:ext cx="12192000" cy="1828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o 4"/>
          <p:cNvSpPr txBox="1"/>
          <p:nvPr/>
        </p:nvSpPr>
        <p:spPr>
          <a:xfrm>
            <a:off x="455000" y="180000"/>
            <a:ext cx="1128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3100" b="1">
                <a:solidFill>
                  <a:srgbClr val="FFFFFF"/>
                </a:solidFill>
                <a:latin typeface="Segoe UI"/>
              </a:rPr>
              <a:t>Flujo de la sesión</a:t>
            </a:r>
            <a:endParaRPr/>
          </a:p>
        </p:txBody>
      </p:sp>
      <p:sp>
        <p:nvSpPr>
          <p:cNvPr id="5" name="Acento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5FC6FAD6-748E-A6CC-99DE-22501D24437D}"/>
              </a:ext>
            </a:extLst>
          </p:cNvPr>
          <p:cNvSpPr txBox="1"/>
          <p:nvPr/>
        </p:nvSpPr>
        <p:spPr>
          <a:xfrm>
            <a:off x="457200" y="6601968"/>
            <a:ext cx="27478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Algoritmos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y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Estructuras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de Datos |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Práctica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s-ES"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1000" b="0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C4701EBD-D9D7-FEC2-AFB9-D3BA758B2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863543"/>
              </p:ext>
            </p:extLst>
          </p:nvPr>
        </p:nvGraphicFramePr>
        <p:xfrm>
          <a:off x="2670174" y="1988820"/>
          <a:ext cx="684847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Fase</a:t>
                      </a:r>
                    </a:p>
                  </a:txBody>
                  <a:tcPr>
                    <a:solidFill>
                      <a:srgbClr val="1543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 err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Duración</a:t>
                      </a:r>
                      <a:endParaRPr sz="1600" b="1" i="0" dirty="0">
                        <a:solidFill>
                          <a:srgbClr val="FFFFFF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>
                    <a:solidFill>
                      <a:srgbClr val="1543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LIFO, FIFO, operaciones y costes</a:t>
                      </a:r>
                      <a:endParaRPr lang="es-ES" sz="1600" b="0" i="0" dirty="0">
                        <a:solidFill>
                          <a:srgbClr val="333333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i="0" dirty="0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15 min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Demostración de </a:t>
                      </a:r>
                      <a:r>
                        <a:rPr lang="es-ES" sz="1600" b="0" dirty="0" err="1">
                          <a:solidFill>
                            <a:srgbClr val="333333"/>
                          </a:solidFill>
                          <a:latin typeface="Segoe UI"/>
                        </a:rPr>
                        <a:t>deque</a:t>
                      </a:r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, </a:t>
                      </a:r>
                      <a:r>
                        <a:rPr lang="es-ES" sz="1600" b="0" dirty="0" err="1">
                          <a:solidFill>
                            <a:srgbClr val="333333"/>
                          </a:solidFill>
                          <a:latin typeface="Segoe UI"/>
                        </a:rPr>
                        <a:t>stack</a:t>
                      </a:r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 y </a:t>
                      </a:r>
                      <a:r>
                        <a:rPr lang="es-ES" sz="1600" b="0" dirty="0" err="1">
                          <a:solidFill>
                            <a:srgbClr val="333333"/>
                          </a:solidFill>
                          <a:latin typeface="Segoe UI"/>
                        </a:rPr>
                        <a:t>queue</a:t>
                      </a:r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.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i="0" dirty="0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10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Ejercicio 1: paréntesis equilibrados.</a:t>
                      </a:r>
                      <a:endParaRPr lang="es-ES" sz="1600" dirty="0"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i="0" dirty="0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25 min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Ejercicio 2: turnos de atención.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i="0" dirty="0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20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Puesta en común: trazas y casos límite.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i="0" dirty="0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10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79024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 err="1">
                          <a:solidFill>
                            <a:srgbClr val="333333"/>
                          </a:solidFill>
                          <a:latin typeface="Segoe UI"/>
                        </a:rPr>
                        <a:t>Miniprueba</a:t>
                      </a:r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 individual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i="0" dirty="0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30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2672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ento 2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Acento 3"/>
          <p:cNvSpPr/>
          <p:nvPr/>
        </p:nvSpPr>
        <p:spPr>
          <a:xfrm>
            <a:off x="0" y="1170432"/>
            <a:ext cx="12192000" cy="1828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o 4"/>
          <p:cNvSpPr txBox="1"/>
          <p:nvPr/>
        </p:nvSpPr>
        <p:spPr>
          <a:xfrm>
            <a:off x="455000" y="180000"/>
            <a:ext cx="1128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3100" b="1">
                <a:solidFill>
                  <a:srgbClr val="FFFFFF"/>
                </a:solidFill>
                <a:latin typeface="Segoe UI"/>
              </a:rPr>
              <a:t>Pila: LIFO</a:t>
            </a:r>
            <a:endParaRPr/>
          </a:p>
        </p:txBody>
      </p:sp>
      <p:sp>
        <p:nvSpPr>
          <p:cNvPr id="5" name="Acento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768BDCD1-8762-D4E8-589F-F5E802498DE5}"/>
              </a:ext>
            </a:extLst>
          </p:cNvPr>
          <p:cNvSpPr txBox="1"/>
          <p:nvPr/>
        </p:nvSpPr>
        <p:spPr>
          <a:xfrm>
            <a:off x="457200" y="6601968"/>
            <a:ext cx="27478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Algoritmos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y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Estructuras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de Datos |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Práctica</a:t>
            </a:r>
            <a:r>
              <a:rPr lang="es-ES"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1000" b="0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0" name="Diagrama 30"/>
          <p:cNvSpPr/>
          <p:nvPr/>
        </p:nvSpPr>
        <p:spPr>
          <a:xfrm>
            <a:off x="600000" y="1710000"/>
            <a:ext cx="109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1850" b="1" dirty="0">
                <a:solidFill>
                  <a:srgbClr val="1A5276"/>
                </a:solidFill>
                <a:latin typeface="Segoe UI"/>
              </a:rPr>
              <a:t>Apilar A, B y C: la cima siempre es el último elemento insertado.</a:t>
            </a:r>
            <a:endParaRPr dirty="0"/>
          </a:p>
        </p:txBody>
      </p:sp>
      <p:sp>
        <p:nvSpPr>
          <p:cNvPr id="31" name="Diagrama 31"/>
          <p:cNvSpPr/>
          <p:nvPr/>
        </p:nvSpPr>
        <p:spPr>
          <a:xfrm>
            <a:off x="700000" y="2350000"/>
            <a:ext cx="3100000" cy="500000"/>
          </a:xfrm>
          <a:prstGeom prst="roundRect">
            <a:avLst/>
          </a:prstGeom>
          <a:solidFill>
            <a:srgbClr val="EAF4FB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1750" b="1">
                <a:solidFill>
                  <a:srgbClr val="154360"/>
                </a:solidFill>
                <a:latin typeface="Segoe UI"/>
              </a:rPr>
              <a:t>1 · APILAR A</a:t>
            </a:r>
            <a:endParaRPr/>
          </a:p>
        </p:txBody>
      </p:sp>
      <p:sp>
        <p:nvSpPr>
          <p:cNvPr id="32" name="Diagrama 32"/>
          <p:cNvSpPr/>
          <p:nvPr/>
        </p:nvSpPr>
        <p:spPr>
          <a:xfrm>
            <a:off x="4530000" y="2350000"/>
            <a:ext cx="3100000" cy="500000"/>
          </a:xfrm>
          <a:prstGeom prst="roundRect">
            <a:avLst/>
          </a:prstGeom>
          <a:solidFill>
            <a:srgbClr val="EAF4FB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1750" b="1">
                <a:solidFill>
                  <a:srgbClr val="154360"/>
                </a:solidFill>
                <a:latin typeface="Segoe UI"/>
              </a:rPr>
              <a:t>2 · APILAR B</a:t>
            </a:r>
            <a:endParaRPr/>
          </a:p>
        </p:txBody>
      </p:sp>
      <p:sp>
        <p:nvSpPr>
          <p:cNvPr id="33" name="Diagrama 33"/>
          <p:cNvSpPr/>
          <p:nvPr/>
        </p:nvSpPr>
        <p:spPr>
          <a:xfrm>
            <a:off x="8360000" y="2350000"/>
            <a:ext cx="3100000" cy="500000"/>
          </a:xfrm>
          <a:prstGeom prst="roundRect">
            <a:avLst/>
          </a:prstGeom>
          <a:solidFill>
            <a:srgbClr val="EAF4FB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1750" b="1">
                <a:solidFill>
                  <a:srgbClr val="154360"/>
                </a:solidFill>
                <a:latin typeface="Segoe UI"/>
              </a:rPr>
              <a:t>3 · APILAR C</a:t>
            </a:r>
            <a:endParaRPr/>
          </a:p>
        </p:txBody>
      </p:sp>
      <p:sp>
        <p:nvSpPr>
          <p:cNvPr id="34" name="Diagrama 34"/>
          <p:cNvSpPr/>
          <p:nvPr/>
        </p:nvSpPr>
        <p:spPr>
          <a:xfrm>
            <a:off x="1780000" y="4260000"/>
            <a:ext cx="920000" cy="600000"/>
          </a:xfrm>
          <a:prstGeom prst="roundRect">
            <a:avLst/>
          </a:prstGeom>
          <a:solidFill>
            <a:srgbClr val="D6EAF8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2100" b="1">
                <a:solidFill>
                  <a:srgbClr val="154360"/>
                </a:solidFill>
                <a:latin typeface="Segoe UI"/>
              </a:rPr>
              <a:t>A</a:t>
            </a:r>
            <a:endParaRPr/>
          </a:p>
        </p:txBody>
      </p:sp>
      <p:sp>
        <p:nvSpPr>
          <p:cNvPr id="35" name="Diagrama 35"/>
          <p:cNvSpPr/>
          <p:nvPr/>
        </p:nvSpPr>
        <p:spPr>
          <a:xfrm>
            <a:off x="5610000" y="3620000"/>
            <a:ext cx="920000" cy="600000"/>
          </a:xfrm>
          <a:prstGeom prst="roundRect">
            <a:avLst/>
          </a:prstGeom>
          <a:solidFill>
            <a:srgbClr val="D6EAF8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2100" b="1">
                <a:solidFill>
                  <a:srgbClr val="154360"/>
                </a:solidFill>
                <a:latin typeface="Segoe UI"/>
              </a:rPr>
              <a:t>B</a:t>
            </a:r>
            <a:endParaRPr/>
          </a:p>
        </p:txBody>
      </p:sp>
      <p:sp>
        <p:nvSpPr>
          <p:cNvPr id="36" name="Diagrama 36"/>
          <p:cNvSpPr/>
          <p:nvPr/>
        </p:nvSpPr>
        <p:spPr>
          <a:xfrm>
            <a:off x="5610000" y="4260000"/>
            <a:ext cx="920000" cy="600000"/>
          </a:xfrm>
          <a:prstGeom prst="roundRect">
            <a:avLst/>
          </a:prstGeom>
          <a:solidFill>
            <a:srgbClr val="D6EAF8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2100" b="1">
                <a:solidFill>
                  <a:srgbClr val="154360"/>
                </a:solidFill>
                <a:latin typeface="Segoe UI"/>
              </a:rPr>
              <a:t>A</a:t>
            </a:r>
            <a:endParaRPr/>
          </a:p>
        </p:txBody>
      </p:sp>
      <p:sp>
        <p:nvSpPr>
          <p:cNvPr id="37" name="Diagrama 37"/>
          <p:cNvSpPr/>
          <p:nvPr/>
        </p:nvSpPr>
        <p:spPr>
          <a:xfrm>
            <a:off x="9440000" y="2980000"/>
            <a:ext cx="1450000" cy="600000"/>
          </a:xfrm>
          <a:prstGeom prst="roundRect">
            <a:avLst/>
          </a:prstGeom>
          <a:solidFill>
            <a:srgbClr val="F1C40F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1700" b="1">
                <a:solidFill>
                  <a:srgbClr val="154360"/>
                </a:solidFill>
                <a:latin typeface="Segoe UI"/>
              </a:rPr>
              <a:t>C  ← cima</a:t>
            </a:r>
            <a:endParaRPr/>
          </a:p>
        </p:txBody>
      </p:sp>
      <p:sp>
        <p:nvSpPr>
          <p:cNvPr id="38" name="Diagrama 38"/>
          <p:cNvSpPr/>
          <p:nvPr/>
        </p:nvSpPr>
        <p:spPr>
          <a:xfrm>
            <a:off x="9700000" y="3620000"/>
            <a:ext cx="920000" cy="600000"/>
          </a:xfrm>
          <a:prstGeom prst="roundRect">
            <a:avLst/>
          </a:prstGeom>
          <a:solidFill>
            <a:srgbClr val="D6EAF8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2100" b="1">
                <a:solidFill>
                  <a:srgbClr val="154360"/>
                </a:solidFill>
                <a:latin typeface="Segoe UI"/>
              </a:rPr>
              <a:t>B</a:t>
            </a:r>
            <a:endParaRPr/>
          </a:p>
        </p:txBody>
      </p:sp>
      <p:sp>
        <p:nvSpPr>
          <p:cNvPr id="39" name="Diagrama 39"/>
          <p:cNvSpPr/>
          <p:nvPr/>
        </p:nvSpPr>
        <p:spPr>
          <a:xfrm>
            <a:off x="9700000" y="4260000"/>
            <a:ext cx="920000" cy="600000"/>
          </a:xfrm>
          <a:prstGeom prst="roundRect">
            <a:avLst/>
          </a:prstGeom>
          <a:solidFill>
            <a:srgbClr val="D6EAF8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2100" b="1">
                <a:solidFill>
                  <a:srgbClr val="154360"/>
                </a:solidFill>
                <a:latin typeface="Segoe UI"/>
              </a:rPr>
              <a:t>A</a:t>
            </a:r>
            <a:endParaRPr/>
          </a:p>
        </p:txBody>
      </p:sp>
      <p:sp>
        <p:nvSpPr>
          <p:cNvPr id="40" name="Diagrama 40"/>
          <p:cNvSpPr/>
          <p:nvPr/>
        </p:nvSpPr>
        <p:spPr>
          <a:xfrm>
            <a:off x="8900000" y="5200000"/>
            <a:ext cx="2300000" cy="480000"/>
          </a:xfrm>
          <a:prstGeom prst="roundRect">
            <a:avLst/>
          </a:prstGeom>
          <a:solidFill>
            <a:srgbClr val="EAFAF1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1750" b="1">
                <a:solidFill>
                  <a:srgbClr val="1E8449"/>
                </a:solidFill>
                <a:latin typeface="Segoe UI"/>
              </a:rPr>
              <a:t>↓ sale 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ento 2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Acento 3"/>
          <p:cNvSpPr/>
          <p:nvPr/>
        </p:nvSpPr>
        <p:spPr>
          <a:xfrm>
            <a:off x="0" y="1170432"/>
            <a:ext cx="12192000" cy="1828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o 4"/>
          <p:cNvSpPr txBox="1"/>
          <p:nvPr/>
        </p:nvSpPr>
        <p:spPr>
          <a:xfrm>
            <a:off x="455000" y="180000"/>
            <a:ext cx="1128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3100" b="1">
                <a:solidFill>
                  <a:srgbClr val="FFFFFF"/>
                </a:solidFill>
                <a:latin typeface="Segoe UI"/>
              </a:rPr>
              <a:t>Cola: FIFO</a:t>
            </a:r>
            <a:endParaRPr/>
          </a:p>
        </p:txBody>
      </p:sp>
      <p:sp>
        <p:nvSpPr>
          <p:cNvPr id="5" name="Acento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B28D9FBE-BDE2-1401-7E53-B0EA17C84B80}"/>
              </a:ext>
            </a:extLst>
          </p:cNvPr>
          <p:cNvSpPr txBox="1"/>
          <p:nvPr/>
        </p:nvSpPr>
        <p:spPr>
          <a:xfrm>
            <a:off x="457200" y="6601968"/>
            <a:ext cx="27478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Algoritmos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y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Estructuras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de Datos |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Práctica</a:t>
            </a:r>
            <a:r>
              <a:rPr lang="es-ES"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1000" b="0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0" name="Diagrama 30"/>
          <p:cNvSpPr/>
          <p:nvPr/>
        </p:nvSpPr>
        <p:spPr>
          <a:xfrm>
            <a:off x="600000" y="1741433"/>
            <a:ext cx="10900000" cy="417135"/>
          </a:xfrm>
          <a:prstGeom prst="roundRect">
            <a:avLst/>
          </a:prstGeom>
          <a:solidFill>
            <a:srgbClr val="FFFFFF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1850" b="1" dirty="0">
                <a:solidFill>
                  <a:srgbClr val="1A5276"/>
                </a:solidFill>
                <a:latin typeface="Segoe UI"/>
              </a:rPr>
              <a:t>Encolar A, B y C: el principio de la cola es el primer elemento insertado</a:t>
            </a:r>
            <a:endParaRPr dirty="0"/>
          </a:p>
        </p:txBody>
      </p:sp>
      <p:sp>
        <p:nvSpPr>
          <p:cNvPr id="31" name="Diagrama 31"/>
          <p:cNvSpPr/>
          <p:nvPr/>
        </p:nvSpPr>
        <p:spPr>
          <a:xfrm>
            <a:off x="700000" y="2350000"/>
            <a:ext cx="3100000" cy="500000"/>
          </a:xfrm>
          <a:prstGeom prst="roundRect">
            <a:avLst/>
          </a:prstGeom>
          <a:solidFill>
            <a:srgbClr val="EAF4FB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1750" b="1">
                <a:solidFill>
                  <a:srgbClr val="154360"/>
                </a:solidFill>
                <a:latin typeface="Segoe UI"/>
              </a:rPr>
              <a:t>1 · ENCOLAR A</a:t>
            </a:r>
            <a:endParaRPr/>
          </a:p>
        </p:txBody>
      </p:sp>
      <p:sp>
        <p:nvSpPr>
          <p:cNvPr id="32" name="Diagrama 32"/>
          <p:cNvSpPr/>
          <p:nvPr/>
        </p:nvSpPr>
        <p:spPr>
          <a:xfrm>
            <a:off x="4530000" y="2350000"/>
            <a:ext cx="3100000" cy="500000"/>
          </a:xfrm>
          <a:prstGeom prst="roundRect">
            <a:avLst/>
          </a:prstGeom>
          <a:solidFill>
            <a:srgbClr val="EAF4FB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1750" b="1">
                <a:solidFill>
                  <a:srgbClr val="154360"/>
                </a:solidFill>
                <a:latin typeface="Segoe UI"/>
              </a:rPr>
              <a:t>2 · ENCOLAR B</a:t>
            </a:r>
            <a:endParaRPr/>
          </a:p>
        </p:txBody>
      </p:sp>
      <p:sp>
        <p:nvSpPr>
          <p:cNvPr id="33" name="Diagrama 33"/>
          <p:cNvSpPr/>
          <p:nvPr/>
        </p:nvSpPr>
        <p:spPr>
          <a:xfrm>
            <a:off x="8360000" y="2350000"/>
            <a:ext cx="3100000" cy="500000"/>
          </a:xfrm>
          <a:prstGeom prst="roundRect">
            <a:avLst/>
          </a:prstGeom>
          <a:solidFill>
            <a:srgbClr val="EAF4FB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1750" b="1">
                <a:solidFill>
                  <a:srgbClr val="154360"/>
                </a:solidFill>
                <a:latin typeface="Segoe UI"/>
              </a:rPr>
              <a:t>3 · ENCOLAR C</a:t>
            </a:r>
            <a:endParaRPr/>
          </a:p>
        </p:txBody>
      </p:sp>
      <p:sp>
        <p:nvSpPr>
          <p:cNvPr id="34" name="Diagrama 34"/>
          <p:cNvSpPr/>
          <p:nvPr/>
        </p:nvSpPr>
        <p:spPr>
          <a:xfrm>
            <a:off x="1500000" y="3650000"/>
            <a:ext cx="850000" cy="850000"/>
          </a:xfrm>
          <a:prstGeom prst="roundRect">
            <a:avLst/>
          </a:prstGeom>
          <a:solidFill>
            <a:srgbClr val="D6EAF8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2100" b="1">
                <a:solidFill>
                  <a:srgbClr val="154360"/>
                </a:solidFill>
                <a:latin typeface="Segoe UI"/>
              </a:rPr>
              <a:t>A</a:t>
            </a:r>
            <a:endParaRPr/>
          </a:p>
        </p:txBody>
      </p:sp>
      <p:sp>
        <p:nvSpPr>
          <p:cNvPr id="35" name="Diagrama 35"/>
          <p:cNvSpPr/>
          <p:nvPr/>
        </p:nvSpPr>
        <p:spPr>
          <a:xfrm>
            <a:off x="4930000" y="3650000"/>
            <a:ext cx="850000" cy="850000"/>
          </a:xfrm>
          <a:prstGeom prst="roundRect">
            <a:avLst/>
          </a:prstGeom>
          <a:solidFill>
            <a:srgbClr val="D6EAF8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2100" b="1">
                <a:solidFill>
                  <a:srgbClr val="154360"/>
                </a:solidFill>
                <a:latin typeface="Segoe UI"/>
              </a:rPr>
              <a:t>A</a:t>
            </a:r>
            <a:endParaRPr/>
          </a:p>
        </p:txBody>
      </p:sp>
      <p:sp>
        <p:nvSpPr>
          <p:cNvPr id="36" name="Diagrama 36"/>
          <p:cNvSpPr/>
          <p:nvPr/>
        </p:nvSpPr>
        <p:spPr>
          <a:xfrm>
            <a:off x="5850000" y="3650000"/>
            <a:ext cx="850000" cy="850000"/>
          </a:xfrm>
          <a:prstGeom prst="roundRect">
            <a:avLst/>
          </a:prstGeom>
          <a:solidFill>
            <a:srgbClr val="D6EAF8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2100" b="1">
                <a:solidFill>
                  <a:srgbClr val="154360"/>
                </a:solidFill>
                <a:latin typeface="Segoe UI"/>
              </a:rPr>
              <a:t>B</a:t>
            </a:r>
            <a:endParaRPr/>
          </a:p>
        </p:txBody>
      </p:sp>
      <p:sp>
        <p:nvSpPr>
          <p:cNvPr id="37" name="Diagrama 37"/>
          <p:cNvSpPr/>
          <p:nvPr/>
        </p:nvSpPr>
        <p:spPr>
          <a:xfrm>
            <a:off x="8500000" y="3650000"/>
            <a:ext cx="850000" cy="850000"/>
          </a:xfrm>
          <a:prstGeom prst="roundRect">
            <a:avLst/>
          </a:prstGeom>
          <a:solidFill>
            <a:srgbClr val="F1C40F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2100" b="1">
                <a:solidFill>
                  <a:srgbClr val="154360"/>
                </a:solidFill>
                <a:latin typeface="Segoe UI"/>
              </a:rPr>
              <a:t>A</a:t>
            </a:r>
            <a:endParaRPr/>
          </a:p>
        </p:txBody>
      </p:sp>
      <p:sp>
        <p:nvSpPr>
          <p:cNvPr id="38" name="Diagrama 38"/>
          <p:cNvSpPr/>
          <p:nvPr/>
        </p:nvSpPr>
        <p:spPr>
          <a:xfrm>
            <a:off x="9420000" y="3650000"/>
            <a:ext cx="850000" cy="850000"/>
          </a:xfrm>
          <a:prstGeom prst="roundRect">
            <a:avLst/>
          </a:prstGeom>
          <a:solidFill>
            <a:srgbClr val="D6EAF8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2100" b="1">
                <a:solidFill>
                  <a:srgbClr val="154360"/>
                </a:solidFill>
                <a:latin typeface="Segoe UI"/>
              </a:rPr>
              <a:t>B</a:t>
            </a:r>
            <a:endParaRPr/>
          </a:p>
        </p:txBody>
      </p:sp>
      <p:sp>
        <p:nvSpPr>
          <p:cNvPr id="39" name="Diagrama 39"/>
          <p:cNvSpPr/>
          <p:nvPr/>
        </p:nvSpPr>
        <p:spPr>
          <a:xfrm>
            <a:off x="10340000" y="3650000"/>
            <a:ext cx="850000" cy="850000"/>
          </a:xfrm>
          <a:prstGeom prst="roundRect">
            <a:avLst/>
          </a:prstGeom>
          <a:solidFill>
            <a:srgbClr val="D6EAF8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2100" b="1">
                <a:solidFill>
                  <a:srgbClr val="154360"/>
                </a:solidFill>
                <a:latin typeface="Segoe UI"/>
              </a:rPr>
              <a:t>C</a:t>
            </a:r>
            <a:endParaRPr/>
          </a:p>
        </p:txBody>
      </p:sp>
      <p:sp>
        <p:nvSpPr>
          <p:cNvPr id="40" name="Diagrama 40"/>
          <p:cNvSpPr/>
          <p:nvPr/>
        </p:nvSpPr>
        <p:spPr>
          <a:xfrm>
            <a:off x="8730000" y="5021947"/>
            <a:ext cx="2230000" cy="400110"/>
          </a:xfrm>
          <a:prstGeom prst="roundRect">
            <a:avLst/>
          </a:prstGeom>
          <a:solidFill>
            <a:srgbClr val="EAFAF1"/>
          </a:solidFill>
          <a:ln>
            <a:solidFill>
              <a:srgbClr val="D5DBD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1750" b="1" dirty="0">
                <a:solidFill>
                  <a:srgbClr val="1E8449"/>
                </a:solidFill>
                <a:latin typeface="Segoe UI"/>
              </a:rPr>
              <a:t>→ sale A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ento 2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Acento 3"/>
          <p:cNvSpPr/>
          <p:nvPr/>
        </p:nvSpPr>
        <p:spPr>
          <a:xfrm>
            <a:off x="0" y="1170432"/>
            <a:ext cx="12192000" cy="1828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o 4"/>
          <p:cNvSpPr txBox="1"/>
          <p:nvPr/>
        </p:nvSpPr>
        <p:spPr>
          <a:xfrm>
            <a:off x="455000" y="180000"/>
            <a:ext cx="1128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3100" b="1">
                <a:solidFill>
                  <a:srgbClr val="FFFFFF"/>
                </a:solidFill>
                <a:latin typeface="Segoe UI"/>
              </a:rPr>
              <a:t>Python: deque como pila y como cola</a:t>
            </a:r>
            <a:endParaRPr/>
          </a:p>
        </p:txBody>
      </p:sp>
      <p:sp>
        <p:nvSpPr>
          <p:cNvPr id="5" name="Acento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o 7"/>
          <p:cNvSpPr txBox="1"/>
          <p:nvPr/>
        </p:nvSpPr>
        <p:spPr>
          <a:xfrm>
            <a:off x="480000" y="145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700" b="1">
                <a:solidFill>
                  <a:srgbClr val="1A5276"/>
                </a:solidFill>
                <a:latin typeface="Segoe UI"/>
              </a:rPr>
              <a:t>BIBLIOTECA ESTÁNDAR</a:t>
            </a:r>
            <a:endParaRPr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7210E506-6CD0-338F-787C-9DA8B1387A95}"/>
              </a:ext>
            </a:extLst>
          </p:cNvPr>
          <p:cNvSpPr txBox="1"/>
          <p:nvPr/>
        </p:nvSpPr>
        <p:spPr>
          <a:xfrm>
            <a:off x="457200" y="6601968"/>
            <a:ext cx="27478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Algoritmos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y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Estructuras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de Datos |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Práctica</a:t>
            </a:r>
            <a:r>
              <a:rPr lang="es-ES"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4</a:t>
            </a:r>
            <a:endParaRPr sz="1000" b="0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graphicFrame>
        <p:nvGraphicFramePr>
          <p:cNvPr id="20" name="Tabla de operaciones">
            <a:extLst>
              <a:ext uri="{FF2B5EF4-FFF2-40B4-BE49-F238E27FC236}">
                <a16:creationId xmlns:a16="http://schemas.microsoft.com/office/drawing/2014/main" id="{C4701EBD-D9D7-FEC2-AFB9-D3BA758B2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250484"/>
              </p:ext>
            </p:extLst>
          </p:nvPr>
        </p:nvGraphicFramePr>
        <p:xfrm>
          <a:off x="850000" y="1860000"/>
          <a:ext cx="10500000" cy="2957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857"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Operación</a:t>
                      </a:r>
                    </a:p>
                  </a:txBody>
                  <a:tcPr>
                    <a:solidFill>
                      <a:srgbClr val="1543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 err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deque en Python</a:t>
                      </a:r>
                      <a:endParaRPr sz="1600" b="1" i="0" dirty="0">
                        <a:solidFill>
                          <a:srgbClr val="FFFFFF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>
                    <a:solidFill>
                      <a:srgbClr val="1543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857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Crear</a:t>
                      </a:r>
                      <a:endParaRPr lang="es-ES" sz="1600" b="0" i="0" dirty="0">
                        <a:solidFill>
                          <a:srgbClr val="333333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i="0" dirty="0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d = deque()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857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Apilar / encolar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i="0" dirty="0" err="1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d.append</a:t>
                      </a:r>
                      <a:r>
                        <a:rPr lang="es-ES" sz="1600" b="0" i="0" dirty="0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(x) / </a:t>
                      </a:r>
                      <a:r>
                        <a:rPr lang="es-ES" sz="1600" b="0" i="0" dirty="0" err="1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d.appendleft</a:t>
                      </a:r>
                      <a:r>
                        <a:rPr lang="es-ES" sz="1600" b="0" i="0" dirty="0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857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Consultar frente / fin</a:t>
                      </a:r>
                      <a:endParaRPr lang="es-ES" sz="1600" dirty="0"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i="0" dirty="0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d[0] / d[-1]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857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 err="1">
                          <a:solidFill>
                            <a:srgbClr val="333333"/>
                          </a:solidFill>
                          <a:latin typeface="Segoe UI"/>
                        </a:rPr>
                        <a:t>Desapilar</a:t>
                      </a:r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 / desencolar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i="0" dirty="0" err="1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d.pop</a:t>
                      </a:r>
                      <a:r>
                        <a:rPr lang="es-ES" sz="1600" b="0" i="0" dirty="0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() / </a:t>
                      </a:r>
                      <a:r>
                        <a:rPr lang="es-ES" sz="1600" b="0" i="0" dirty="0" err="1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d</a:t>
                      </a:r>
                      <a:r>
                        <a:rPr lang="es-ES" sz="1600" b="0" i="0" err="1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.</a:t>
                      </a:r>
                      <a:r>
                        <a:rPr lang="es-ES" sz="1600" b="0" i="0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popleft()</a:t>
                      </a:r>
                      <a:endParaRPr lang="es-ES" sz="1600" b="0" i="0" dirty="0">
                        <a:solidFill>
                          <a:srgbClr val="333333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857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solidFill>
                            <a:srgbClr val="333333"/>
                          </a:solidFill>
                          <a:latin typeface="Segoe UI"/>
                        </a:rPr>
                        <a:t>Rotar n veces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i="0" dirty="0" err="1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rotate</a:t>
                      </a:r>
                      <a:r>
                        <a:rPr lang="es-ES" sz="1600" b="0" i="0" dirty="0">
                          <a:solidFill>
                            <a:srgbClr val="333333"/>
                          </a:solidFill>
                          <a:latin typeface="Segoe UI"/>
                          <a:ea typeface="Segoe UI"/>
                          <a:cs typeface="Segoe UI"/>
                        </a:rPr>
                        <a:t>(n) (n positivo rota derecha, negativo izquierda)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7902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ento 2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Acento 3"/>
          <p:cNvSpPr/>
          <p:nvPr/>
        </p:nvSpPr>
        <p:spPr>
          <a:xfrm>
            <a:off x="0" y="1170432"/>
            <a:ext cx="12192000" cy="1828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o 4"/>
          <p:cNvSpPr txBox="1"/>
          <p:nvPr/>
        </p:nvSpPr>
        <p:spPr>
          <a:xfrm>
            <a:off x="455000" y="180000"/>
            <a:ext cx="1128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3100" b="1">
                <a:solidFill>
                  <a:srgbClr val="FFFFFF"/>
                </a:solidFill>
                <a:latin typeface="Segoe UI"/>
              </a:rPr>
              <a:t>¿Por qué importa la representación?</a:t>
            </a:r>
            <a:endParaRPr/>
          </a:p>
        </p:txBody>
      </p:sp>
      <p:sp>
        <p:nvSpPr>
          <p:cNvPr id="5" name="Acento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o 7"/>
          <p:cNvSpPr txBox="1"/>
          <p:nvPr/>
        </p:nvSpPr>
        <p:spPr>
          <a:xfrm>
            <a:off x="480000" y="145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700" b="1">
                <a:solidFill>
                  <a:srgbClr val="1A5276"/>
                </a:solidFill>
                <a:latin typeface="Segoe UI"/>
              </a:rPr>
              <a:t>COSTES</a:t>
            </a:r>
            <a:endParaRPr/>
          </a:p>
        </p:txBody>
      </p:sp>
      <p:sp>
        <p:nvSpPr>
          <p:cNvPr id="8" name="Texto 8"/>
          <p:cNvSpPr txBox="1"/>
          <p:nvPr/>
        </p:nvSpPr>
        <p:spPr>
          <a:xfrm>
            <a:off x="480000" y="1940000"/>
            <a:ext cx="11100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1850" b="0" dirty="0">
                <a:solidFill>
                  <a:srgbClr val="333333"/>
                </a:solidFill>
                <a:latin typeface="Segoe UI"/>
              </a:rPr>
              <a:t>En Python, </a:t>
            </a:r>
            <a:r>
              <a:rPr lang="es-ES" sz="1850" b="0" dirty="0" err="1">
                <a:solidFill>
                  <a:srgbClr val="333333"/>
                </a:solidFill>
                <a:latin typeface="Segoe UI"/>
              </a:rPr>
              <a:t>list.append</a:t>
            </a:r>
            <a:r>
              <a:rPr lang="es-ES" sz="1850" b="0" dirty="0">
                <a:solidFill>
                  <a:srgbClr val="333333"/>
                </a:solidFill>
                <a:latin typeface="Segoe UI"/>
              </a:rPr>
              <a:t>(x) y </a:t>
            </a:r>
            <a:r>
              <a:rPr lang="es-ES" sz="1850" b="0" dirty="0" err="1">
                <a:solidFill>
                  <a:srgbClr val="333333"/>
                </a:solidFill>
                <a:latin typeface="Segoe UI"/>
              </a:rPr>
              <a:t>list.pop</a:t>
            </a:r>
            <a:r>
              <a:rPr lang="es-ES" sz="1850" b="0" dirty="0">
                <a:solidFill>
                  <a:srgbClr val="333333"/>
                </a:solidFill>
                <a:latin typeface="Segoe UI"/>
              </a:rPr>
              <a:t>() sirven para una pila: actúan al final y cuestan O(1) amortizado.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sz="1850" dirty="0">
              <a:solidFill>
                <a:srgbClr val="333333"/>
              </a:solidFill>
              <a:latin typeface="Segoe 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1850" b="0" dirty="0">
                <a:solidFill>
                  <a:srgbClr val="333333"/>
                </a:solidFill>
                <a:latin typeface="Segoe UI"/>
              </a:rPr>
              <a:t>Una cola hecha con </a:t>
            </a:r>
            <a:r>
              <a:rPr lang="es-ES" sz="1850" b="0" dirty="0" err="1">
                <a:solidFill>
                  <a:srgbClr val="333333"/>
                </a:solidFill>
                <a:latin typeface="Segoe UI"/>
              </a:rPr>
              <a:t>list.pop</a:t>
            </a:r>
            <a:r>
              <a:rPr lang="es-ES" sz="1850" b="0" dirty="0">
                <a:solidFill>
                  <a:srgbClr val="333333"/>
                </a:solidFill>
                <a:latin typeface="Segoe UI"/>
              </a:rPr>
              <a:t>(0) desplaza todos los elementos posteriores: cada extracción cuesta O(n).</a:t>
            </a:r>
            <a:endParaRPr dirty="0"/>
          </a:p>
          <a:p>
            <a:pPr algn="l"/>
            <a:r>
              <a:rPr lang="es-ES" sz="1850" b="0" dirty="0" err="1">
                <a:solidFill>
                  <a:srgbClr val="333333"/>
                </a:solidFill>
                <a:latin typeface="Segoe UI"/>
              </a:rPr>
              <a:t>collections.deque</a:t>
            </a:r>
            <a:r>
              <a:rPr lang="es-ES" sz="1850" b="0" dirty="0">
                <a:solidFill>
                  <a:srgbClr val="333333"/>
                </a:solidFill>
                <a:latin typeface="Segoe UI"/>
              </a:rPr>
              <a:t> ofrece </a:t>
            </a:r>
            <a:r>
              <a:rPr lang="es-ES" sz="1850" b="0" dirty="0" err="1">
                <a:solidFill>
                  <a:srgbClr val="333333"/>
                </a:solidFill>
                <a:latin typeface="Segoe UI"/>
              </a:rPr>
              <a:t>append</a:t>
            </a:r>
            <a:r>
              <a:rPr lang="es-ES" sz="1850" b="0" dirty="0">
                <a:solidFill>
                  <a:srgbClr val="333333"/>
                </a:solidFill>
                <a:latin typeface="Segoe UI"/>
              </a:rPr>
              <a:t>(x) al final y </a:t>
            </a:r>
            <a:r>
              <a:rPr lang="es-ES" sz="1850" b="0" dirty="0" err="1">
                <a:solidFill>
                  <a:srgbClr val="333333"/>
                </a:solidFill>
                <a:latin typeface="Segoe UI"/>
              </a:rPr>
              <a:t>popleft</a:t>
            </a:r>
            <a:r>
              <a:rPr lang="es-ES" sz="1850" b="0" dirty="0">
                <a:solidFill>
                  <a:srgbClr val="333333"/>
                </a:solidFill>
                <a:latin typeface="Segoe UI"/>
              </a:rPr>
              <a:t>() al frente en O(1).</a:t>
            </a:r>
            <a:endParaRPr dirty="0"/>
          </a:p>
        </p:txBody>
      </p:sp>
      <p:sp>
        <p:nvSpPr>
          <p:cNvPr id="9" name="Acento 9"/>
          <p:cNvSpPr/>
          <p:nvPr/>
        </p:nvSpPr>
        <p:spPr>
          <a:xfrm>
            <a:off x="480000" y="5770000"/>
            <a:ext cx="11200000" cy="5600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" name="Acento 10"/>
          <p:cNvSpPr/>
          <p:nvPr/>
        </p:nvSpPr>
        <p:spPr>
          <a:xfrm>
            <a:off x="480000" y="5770000"/>
            <a:ext cx="38000" cy="5600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o 11"/>
          <p:cNvSpPr txBox="1"/>
          <p:nvPr/>
        </p:nvSpPr>
        <p:spPr>
          <a:xfrm>
            <a:off x="700000" y="59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500" b="0">
                <a:solidFill>
                  <a:srgbClr val="333333"/>
                </a:solidFill>
                <a:latin typeface="Segoe UI"/>
              </a:rPr>
              <a:t>Para una cola grande: deque.popleft(), no list.pop(0).</a:t>
            </a:r>
            <a:endParaRPr/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DDD91925-AEB1-55E8-DB97-D6016962024E}"/>
              </a:ext>
            </a:extLst>
          </p:cNvPr>
          <p:cNvSpPr txBox="1"/>
          <p:nvPr/>
        </p:nvSpPr>
        <p:spPr>
          <a:xfrm>
            <a:off x="457200" y="6601968"/>
            <a:ext cx="27478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Algoritmos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y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Estructuras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de Datos |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Práctica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s-ES"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1000" b="0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ento 2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Acento 3"/>
          <p:cNvSpPr/>
          <p:nvPr/>
        </p:nvSpPr>
        <p:spPr>
          <a:xfrm>
            <a:off x="0" y="1170432"/>
            <a:ext cx="12192000" cy="1828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o 4"/>
          <p:cNvSpPr txBox="1"/>
          <p:nvPr/>
        </p:nvSpPr>
        <p:spPr>
          <a:xfrm>
            <a:off x="455000" y="180000"/>
            <a:ext cx="1128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3100" b="1">
                <a:solidFill>
                  <a:srgbClr val="FFFFFF"/>
                </a:solidFill>
                <a:latin typeface="Segoe UI"/>
              </a:rPr>
              <a:t>Ejercicio 1: paréntesis equilibrados</a:t>
            </a:r>
            <a:endParaRPr/>
          </a:p>
        </p:txBody>
      </p:sp>
      <p:sp>
        <p:nvSpPr>
          <p:cNvPr id="5" name="Acento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o 7"/>
          <p:cNvSpPr txBox="1"/>
          <p:nvPr/>
        </p:nvSpPr>
        <p:spPr>
          <a:xfrm>
            <a:off x="480000" y="145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700" b="1">
                <a:solidFill>
                  <a:srgbClr val="1A5276"/>
                </a:solidFill>
                <a:latin typeface="Segoe UI"/>
              </a:rPr>
              <a:t>25 MINUTOS</a:t>
            </a:r>
            <a:endParaRPr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8879C8E-9025-A15F-A771-E5F52A57E00A}"/>
              </a:ext>
            </a:extLst>
          </p:cNvPr>
          <p:cNvSpPr txBox="1"/>
          <p:nvPr/>
        </p:nvSpPr>
        <p:spPr>
          <a:xfrm>
            <a:off x="457200" y="6601968"/>
            <a:ext cx="27478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Algoritmos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y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Estructuras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de Datos |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Práctica</a:t>
            </a:r>
            <a:r>
              <a:rPr lang="es-ES"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4</a:t>
            </a:r>
            <a:endParaRPr sz="1000" b="0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0" name="Contenido ejercicio 30"/>
          <p:cNvSpPr txBox="1"/>
          <p:nvPr/>
        </p:nvSpPr>
        <p:spPr>
          <a:xfrm>
            <a:off x="480000" y="1770000"/>
            <a:ext cx="1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50" b="1">
                <a:solidFill>
                  <a:srgbClr val="1A5276"/>
                </a:solidFill>
                <a:latin typeface="Segoe UI"/>
              </a:rPr>
              <a:t>Objetivo: decidir si los paréntesis (), corchetes [] y llaves {} cierran en el orden correcto.</a:t>
            </a:r>
            <a:endParaRPr/>
          </a:p>
        </p:txBody>
      </p:sp>
      <p:sp>
        <p:nvSpPr>
          <p:cNvPr id="31" name="Cuadro ejercicio 31"/>
          <p:cNvSpPr/>
          <p:nvPr/>
        </p:nvSpPr>
        <p:spPr>
          <a:xfrm>
            <a:off x="480000" y="2370000"/>
            <a:ext cx="3500000" cy="164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Contenido ejercicio 32"/>
          <p:cNvSpPr txBox="1"/>
          <p:nvPr/>
        </p:nvSpPr>
        <p:spPr>
          <a:xfrm>
            <a:off x="690000" y="2540000"/>
            <a:ext cx="305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50" b="0">
                <a:solidFill>
                  <a:srgbClr val="333333"/>
                </a:solidFill>
                <a:latin typeface="Segoe UI"/>
              </a:rPr>
              <a:t>1 · APERTURA</a:t>
            </a:r>
            <a:endParaRPr/>
          </a:p>
          <a:p>
            <a:r>
              <a:rPr lang="es-ES" sz="1850" b="0">
                <a:solidFill>
                  <a:srgbClr val="333333"/>
                </a:solidFill>
                <a:latin typeface="Segoe UI"/>
              </a:rPr>
              <a:t>Si lees (, [ o {, apila el símbolo.</a:t>
            </a:r>
            <a:endParaRPr/>
          </a:p>
        </p:txBody>
      </p:sp>
      <p:sp>
        <p:nvSpPr>
          <p:cNvPr id="33" name="Cuadro ejercicio 33"/>
          <p:cNvSpPr/>
          <p:nvPr/>
        </p:nvSpPr>
        <p:spPr>
          <a:xfrm>
            <a:off x="4350000" y="2370000"/>
            <a:ext cx="3500000" cy="164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Contenido ejercicio 34"/>
          <p:cNvSpPr txBox="1"/>
          <p:nvPr/>
        </p:nvSpPr>
        <p:spPr>
          <a:xfrm>
            <a:off x="4560000" y="2540000"/>
            <a:ext cx="305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50" b="0">
                <a:solidFill>
                  <a:srgbClr val="333333"/>
                </a:solidFill>
                <a:latin typeface="Segoe UI"/>
              </a:rPr>
              <a:t>2 · CIERRE</a:t>
            </a:r>
            <a:endParaRPr/>
          </a:p>
          <a:p>
            <a:r>
              <a:rPr lang="es-ES" sz="1850" b="0">
                <a:solidFill>
                  <a:srgbClr val="333333"/>
                </a:solidFill>
                <a:latin typeface="Segoe UI"/>
              </a:rPr>
              <a:t>Si lees ), ] o }, compáralo con la cima y desapila.</a:t>
            </a:r>
            <a:endParaRPr/>
          </a:p>
        </p:txBody>
      </p:sp>
      <p:sp>
        <p:nvSpPr>
          <p:cNvPr id="35" name="Cuadro ejercicio 35"/>
          <p:cNvSpPr/>
          <p:nvPr/>
        </p:nvSpPr>
        <p:spPr>
          <a:xfrm>
            <a:off x="8220000" y="2370000"/>
            <a:ext cx="3500000" cy="164000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Contenido ejercicio 36"/>
          <p:cNvSpPr txBox="1"/>
          <p:nvPr/>
        </p:nvSpPr>
        <p:spPr>
          <a:xfrm>
            <a:off x="8430000" y="2540000"/>
            <a:ext cx="305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50" b="0">
                <a:solidFill>
                  <a:srgbClr val="333333"/>
                </a:solidFill>
                <a:latin typeface="Segoe UI"/>
              </a:rPr>
              <a:t>3 · FINAL</a:t>
            </a:r>
            <a:endParaRPr/>
          </a:p>
          <a:p>
            <a:r>
              <a:rPr lang="es-ES" sz="1850" b="0">
                <a:solidFill>
                  <a:srgbClr val="333333"/>
                </a:solidFill>
                <a:latin typeface="Segoe UI"/>
              </a:rPr>
              <a:t>La pila debe quedar vacía. Si no, faltan cierres.</a:t>
            </a:r>
            <a:endParaRPr/>
          </a:p>
        </p:txBody>
      </p:sp>
      <p:sp>
        <p:nvSpPr>
          <p:cNvPr id="37" name="Contenido ejercicio 37"/>
          <p:cNvSpPr txBox="1"/>
          <p:nvPr/>
        </p:nvSpPr>
        <p:spPr>
          <a:xfrm>
            <a:off x="480000" y="447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>
                <a:solidFill>
                  <a:srgbClr val="333333"/>
                </a:solidFill>
                <a:latin typeface="Segoe UI"/>
              </a:rPr>
              <a:t>Ejemplos: a*(b+[c]) → verdadero     ([)] → falso     (( → falso</a:t>
            </a:r>
            <a:endParaRPr/>
          </a:p>
          <a:p>
            <a:r>
              <a:rPr lang="es-ES" sz="1800" b="0">
                <a:solidFill>
                  <a:srgbClr val="333333"/>
                </a:solidFill>
                <a:latin typeface="Segoe UI"/>
              </a:rPr>
              <a:t>Casos límite: texto vacío, cierre sin apertura y caracteres ajenos.</a:t>
            </a:r>
            <a:endParaRPr/>
          </a:p>
        </p:txBody>
      </p:sp>
      <p:sp>
        <p:nvSpPr>
          <p:cNvPr id="38" name="Cuadro ejercicio 38"/>
          <p:cNvSpPr/>
          <p:nvPr/>
        </p:nvSpPr>
        <p:spPr>
          <a:xfrm>
            <a:off x="480000" y="5560000"/>
            <a:ext cx="11200000" cy="57000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Contenido ejercicio 39"/>
          <p:cNvSpPr txBox="1"/>
          <p:nvPr/>
        </p:nvSpPr>
        <p:spPr>
          <a:xfrm>
            <a:off x="700000" y="5680000"/>
            <a:ext cx="10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Cada carácter se procesa una vez: tiempo O(n), memoria O(n) en el peor caso.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ento 2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Acento 3"/>
          <p:cNvSpPr/>
          <p:nvPr/>
        </p:nvSpPr>
        <p:spPr>
          <a:xfrm>
            <a:off x="0" y="1170432"/>
            <a:ext cx="12192000" cy="1828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o 4"/>
          <p:cNvSpPr txBox="1"/>
          <p:nvPr/>
        </p:nvSpPr>
        <p:spPr>
          <a:xfrm>
            <a:off x="455000" y="180000"/>
            <a:ext cx="1128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3100" b="1">
                <a:solidFill>
                  <a:srgbClr val="FFFFFF"/>
                </a:solidFill>
                <a:latin typeface="Segoe UI"/>
              </a:rPr>
              <a:t>Ejercicio 2: turnos de atención</a:t>
            </a:r>
            <a:endParaRPr/>
          </a:p>
        </p:txBody>
      </p:sp>
      <p:sp>
        <p:nvSpPr>
          <p:cNvPr id="5" name="Acento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o 7"/>
          <p:cNvSpPr txBox="1"/>
          <p:nvPr/>
        </p:nvSpPr>
        <p:spPr>
          <a:xfrm>
            <a:off x="480000" y="145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700" b="1">
                <a:solidFill>
                  <a:srgbClr val="1A5276"/>
                </a:solidFill>
                <a:latin typeface="Segoe UI"/>
              </a:rPr>
              <a:t>30 MINUTOS</a:t>
            </a:r>
            <a:endParaRPr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3B3208D-19BF-9150-228E-75AB9176670B}"/>
              </a:ext>
            </a:extLst>
          </p:cNvPr>
          <p:cNvSpPr txBox="1"/>
          <p:nvPr/>
        </p:nvSpPr>
        <p:spPr>
          <a:xfrm>
            <a:off x="457200" y="6601968"/>
            <a:ext cx="27478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Algoritmos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y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Estructuras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de Datos |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Práctica</a:t>
            </a:r>
            <a:r>
              <a:rPr lang="es-ES"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4</a:t>
            </a:r>
            <a:endParaRPr sz="1000" b="0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0" name="Contenido ejercicio 30"/>
          <p:cNvSpPr txBox="1"/>
          <p:nvPr/>
        </p:nvSpPr>
        <p:spPr>
          <a:xfrm>
            <a:off x="480000" y="1770000"/>
            <a:ext cx="1120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>
                <a:solidFill>
                  <a:srgbClr val="1A5276"/>
                </a:solidFill>
                <a:latin typeface="Segoe UI"/>
              </a:rPr>
              <a:t>Gestiona una fila: llega añade al final; siguiente consulta; atiende extrae del frente.</a:t>
            </a:r>
            <a:endParaRPr/>
          </a:p>
        </p:txBody>
      </p:sp>
      <p:sp>
        <p:nvSpPr>
          <p:cNvPr id="31" name="Cuadro ejercicio 31"/>
          <p:cNvSpPr/>
          <p:nvPr/>
        </p:nvSpPr>
        <p:spPr>
          <a:xfrm>
            <a:off x="480000" y="2400000"/>
            <a:ext cx="3500000" cy="82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Contenido ejercicio 32"/>
          <p:cNvSpPr txBox="1"/>
          <p:nvPr/>
        </p:nvSpPr>
        <p:spPr>
          <a:xfrm>
            <a:off x="700000" y="2600000"/>
            <a:ext cx="30500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>
                <a:solidFill>
                  <a:srgbClr val="154360"/>
                </a:solidFill>
                <a:latin typeface="Segoe UI"/>
              </a:rPr>
              <a:t>llega Ana; llega Luis</a:t>
            </a:r>
            <a:endParaRPr/>
          </a:p>
        </p:txBody>
      </p:sp>
      <p:sp>
        <p:nvSpPr>
          <p:cNvPr id="33" name="Cuadro ejercicio 33"/>
          <p:cNvSpPr/>
          <p:nvPr/>
        </p:nvSpPr>
        <p:spPr>
          <a:xfrm>
            <a:off x="4350000" y="2400000"/>
            <a:ext cx="3500000" cy="82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Contenido ejercicio 34"/>
          <p:cNvSpPr txBox="1"/>
          <p:nvPr/>
        </p:nvSpPr>
        <p:spPr>
          <a:xfrm>
            <a:off x="4560000" y="2600000"/>
            <a:ext cx="30500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>
                <a:solidFill>
                  <a:srgbClr val="154360"/>
                </a:solidFill>
                <a:latin typeface="Segoe UI"/>
              </a:rPr>
              <a:t>siguiente → Ana</a:t>
            </a:r>
            <a:endParaRPr/>
          </a:p>
        </p:txBody>
      </p:sp>
      <p:sp>
        <p:nvSpPr>
          <p:cNvPr id="35" name="Cuadro ejercicio 35"/>
          <p:cNvSpPr/>
          <p:nvPr/>
        </p:nvSpPr>
        <p:spPr>
          <a:xfrm>
            <a:off x="8220000" y="2400000"/>
            <a:ext cx="3500000" cy="82000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Contenido ejercicio 36"/>
          <p:cNvSpPr txBox="1"/>
          <p:nvPr/>
        </p:nvSpPr>
        <p:spPr>
          <a:xfrm>
            <a:off x="8430000" y="2600000"/>
            <a:ext cx="30500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>
                <a:solidFill>
                  <a:srgbClr val="154360"/>
                </a:solidFill>
                <a:latin typeface="Segoe UI"/>
              </a:rPr>
              <a:t>atiende → Ana</a:t>
            </a:r>
            <a:endParaRPr/>
          </a:p>
        </p:txBody>
      </p:sp>
      <p:sp>
        <p:nvSpPr>
          <p:cNvPr id="37" name="Contenido ejercicio 37"/>
          <p:cNvSpPr txBox="1"/>
          <p:nvPr/>
        </p:nvSpPr>
        <p:spPr>
          <a:xfrm>
            <a:off x="329300" y="3650000"/>
            <a:ext cx="37914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900" b="0" dirty="0">
                <a:solidFill>
                  <a:srgbClr val="333333"/>
                </a:solidFill>
                <a:latin typeface="Segoe UI"/>
              </a:rPr>
              <a:t>FRENTE → [ Ana ] [ Luis ] ← FINAL</a:t>
            </a:r>
            <a:endParaRPr dirty="0"/>
          </a:p>
        </p:txBody>
      </p:sp>
      <p:sp>
        <p:nvSpPr>
          <p:cNvPr id="38" name="Contenido ejercicio 38"/>
          <p:cNvSpPr txBox="1"/>
          <p:nvPr/>
        </p:nvSpPr>
        <p:spPr>
          <a:xfrm>
            <a:off x="4184300" y="3662006"/>
            <a:ext cx="37914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900" b="0" dirty="0">
                <a:solidFill>
                  <a:srgbClr val="333333"/>
                </a:solidFill>
                <a:latin typeface="Segoe UI"/>
              </a:rPr>
              <a:t>FRENTE → [ Ana ] [ Luis ] ← FINAL</a:t>
            </a:r>
            <a:endParaRPr dirty="0"/>
          </a:p>
        </p:txBody>
      </p:sp>
      <p:sp>
        <p:nvSpPr>
          <p:cNvPr id="39" name="Contenido ejercicio 39"/>
          <p:cNvSpPr txBox="1"/>
          <p:nvPr/>
        </p:nvSpPr>
        <p:spPr>
          <a:xfrm>
            <a:off x="8340000" y="3650000"/>
            <a:ext cx="340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900" b="0">
                <a:solidFill>
                  <a:srgbClr val="333333"/>
                </a:solidFill>
                <a:latin typeface="Segoe UI"/>
              </a:rPr>
              <a:t>FRENTE → [ Luis ] ← FINAL</a:t>
            </a:r>
            <a:endParaRPr/>
          </a:p>
        </p:txBody>
      </p:sp>
      <p:sp>
        <p:nvSpPr>
          <p:cNvPr id="40" name="Contenido ejercicio 40"/>
          <p:cNvSpPr txBox="1"/>
          <p:nvPr/>
        </p:nvSpPr>
        <p:spPr>
          <a:xfrm>
            <a:off x="480000" y="4710000"/>
            <a:ext cx="1120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>
                <a:solidFill>
                  <a:srgbClr val="333333"/>
                </a:solidFill>
                <a:latin typeface="Segoe UI"/>
              </a:rPr>
              <a:t>La consulta no cambia la cola. Si está vacía, atiende y siguiente devuelven VACIA.</a:t>
            </a:r>
            <a:endParaRPr/>
          </a:p>
        </p:txBody>
      </p:sp>
      <p:sp>
        <p:nvSpPr>
          <p:cNvPr id="41" name="Cuadro ejercicio 41"/>
          <p:cNvSpPr/>
          <p:nvPr/>
        </p:nvSpPr>
        <p:spPr>
          <a:xfrm>
            <a:off x="480000" y="5600000"/>
            <a:ext cx="11200000" cy="55000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Contenido ejercicio 42"/>
          <p:cNvSpPr txBox="1"/>
          <p:nvPr/>
        </p:nvSpPr>
        <p:spPr>
          <a:xfrm>
            <a:off x="700000" y="5700000"/>
            <a:ext cx="10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Respuestas del ejemplo: [Ana, Ana]. Cada orden cuesta O(1).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ento 2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Acento 3"/>
          <p:cNvSpPr/>
          <p:nvPr/>
        </p:nvSpPr>
        <p:spPr>
          <a:xfrm>
            <a:off x="0" y="1170432"/>
            <a:ext cx="12192000" cy="1828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o 4"/>
          <p:cNvSpPr txBox="1"/>
          <p:nvPr/>
        </p:nvSpPr>
        <p:spPr>
          <a:xfrm>
            <a:off x="455000" y="180000"/>
            <a:ext cx="1128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3100" b="1">
                <a:solidFill>
                  <a:srgbClr val="FFFFFF"/>
                </a:solidFill>
                <a:latin typeface="Segoe UI"/>
              </a:rPr>
              <a:t>Ejercicio 2: entrada y salida</a:t>
            </a:r>
            <a:endParaRPr/>
          </a:p>
        </p:txBody>
      </p:sp>
      <p:sp>
        <p:nvSpPr>
          <p:cNvPr id="5" name="Acento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o 7"/>
          <p:cNvSpPr txBox="1"/>
          <p:nvPr/>
        </p:nvSpPr>
        <p:spPr>
          <a:xfrm>
            <a:off x="480000" y="145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700" b="1">
                <a:solidFill>
                  <a:srgbClr val="1A5276"/>
                </a:solidFill>
                <a:latin typeface="Segoe UI"/>
              </a:rPr>
              <a:t>CONTRATO DE LA FUNCIÓN</a:t>
            </a:r>
            <a:endParaRPr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3B3208D-19BF-9150-228E-75AB9176670B}"/>
              </a:ext>
            </a:extLst>
          </p:cNvPr>
          <p:cNvSpPr txBox="1"/>
          <p:nvPr/>
        </p:nvSpPr>
        <p:spPr>
          <a:xfrm>
            <a:off x="457200" y="6601968"/>
            <a:ext cx="27478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Algoritmos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y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Estructuras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de Datos |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Práctica</a:t>
            </a:r>
            <a:r>
              <a:rPr lang="es-ES"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4</a:t>
            </a:r>
            <a:endParaRPr sz="1000" b="0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0" name="Turnos 30"/>
          <p:cNvSpPr/>
          <p:nvPr/>
        </p:nvSpPr>
        <p:spPr>
          <a:xfrm>
            <a:off x="490000" y="1750000"/>
            <a:ext cx="11100000" cy="4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800" b="1">
                <a:solidFill>
                  <a:srgbClr val="1A5276"/>
                </a:solidFill>
                <a:latin typeface="Segoe UI"/>
              </a:rPr>
              <a:t>La función recibe una lista de tuplas (tipo, nombre), en orden cronológico.</a:t>
            </a:r>
            <a:endParaRPr/>
          </a:p>
        </p:txBody>
      </p:sp>
      <p:sp>
        <p:nvSpPr>
          <p:cNvPr id="31" name="Turnos 31"/>
          <p:cNvSpPr/>
          <p:nvPr/>
        </p:nvSpPr>
        <p:spPr>
          <a:xfrm>
            <a:off x="520000" y="2360000"/>
            <a:ext cx="3520000" cy="132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750" b="0">
                <a:solidFill>
                  <a:srgbClr val="333333"/>
                </a:solidFill>
                <a:latin typeface="Segoe UI"/>
              </a:rPr>
              <a:t>('llega', 'Ana')</a:t>
            </a:r>
            <a:endParaRPr/>
          </a:p>
          <a:p>
            <a:r>
              <a:rPr lang="es-ES" sz="1750" b="0">
                <a:solidFill>
                  <a:srgbClr val="333333"/>
                </a:solidFill>
                <a:latin typeface="Segoe UI"/>
              </a:rPr>
              <a:t>Añade Ana al final de la cola.</a:t>
            </a:r>
            <a:endParaRPr/>
          </a:p>
          <a:p>
            <a:r>
              <a:rPr lang="es-ES" sz="1750" b="0">
                <a:solidFill>
                  <a:srgbClr val="333333"/>
                </a:solidFill>
                <a:latin typeface="Segoe UI"/>
              </a:rPr>
              <a:t>No produce respuesta.</a:t>
            </a:r>
            <a:endParaRPr/>
          </a:p>
        </p:txBody>
      </p:sp>
      <p:sp>
        <p:nvSpPr>
          <p:cNvPr id="32" name="Turnos 32"/>
          <p:cNvSpPr/>
          <p:nvPr/>
        </p:nvSpPr>
        <p:spPr>
          <a:xfrm>
            <a:off x="4340000" y="2360000"/>
            <a:ext cx="3520000" cy="132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750" b="0">
                <a:solidFill>
                  <a:srgbClr val="333333"/>
                </a:solidFill>
                <a:latin typeface="Segoe UI"/>
              </a:rPr>
              <a:t>('siguiente', '')</a:t>
            </a:r>
            <a:endParaRPr/>
          </a:p>
          <a:p>
            <a:r>
              <a:rPr lang="es-ES" sz="1750" b="0">
                <a:solidFill>
                  <a:srgbClr val="333333"/>
                </a:solidFill>
                <a:latin typeface="Segoe UI"/>
              </a:rPr>
              <a:t>Consulta quién está delante.</a:t>
            </a:r>
            <a:endParaRPr/>
          </a:p>
          <a:p>
            <a:r>
              <a:rPr lang="es-ES" sz="1750" b="0">
                <a:solidFill>
                  <a:srgbClr val="333333"/>
                </a:solidFill>
                <a:latin typeface="Segoe UI"/>
              </a:rPr>
              <a:t>No elimina a esa persona.</a:t>
            </a:r>
            <a:endParaRPr/>
          </a:p>
        </p:txBody>
      </p:sp>
      <p:sp>
        <p:nvSpPr>
          <p:cNvPr id="33" name="Turnos 33"/>
          <p:cNvSpPr/>
          <p:nvPr/>
        </p:nvSpPr>
        <p:spPr>
          <a:xfrm>
            <a:off x="8160000" y="2360000"/>
            <a:ext cx="3520000" cy="132000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750" b="0">
                <a:solidFill>
                  <a:srgbClr val="333333"/>
                </a:solidFill>
                <a:latin typeface="Segoe UI"/>
              </a:rPr>
              <a:t>('atiende', '')</a:t>
            </a:r>
            <a:endParaRPr/>
          </a:p>
          <a:p>
            <a:r>
              <a:rPr lang="es-ES" sz="1750" b="0">
                <a:solidFill>
                  <a:srgbClr val="333333"/>
                </a:solidFill>
                <a:latin typeface="Segoe UI"/>
              </a:rPr>
              <a:t>Saca a la primera persona.</a:t>
            </a:r>
            <a:endParaRPr/>
          </a:p>
          <a:p>
            <a:r>
              <a:rPr lang="es-ES" sz="1750" b="0">
                <a:solidFill>
                  <a:srgbClr val="333333"/>
                </a:solidFill>
                <a:latin typeface="Segoe UI"/>
              </a:rPr>
              <a:t>La devuelve como respuesta.</a:t>
            </a:r>
            <a:endParaRPr/>
          </a:p>
        </p:txBody>
      </p:sp>
      <p:sp>
        <p:nvSpPr>
          <p:cNvPr id="34" name="Turnos 34"/>
          <p:cNvSpPr/>
          <p:nvPr/>
        </p:nvSpPr>
        <p:spPr>
          <a:xfrm>
            <a:off x="520000" y="3940000"/>
            <a:ext cx="11160000" cy="105000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800" b="1">
                <a:solidFill>
                  <a:srgbClr val="154360"/>
                </a:solidFill>
                <a:latin typeface="Segoe UI"/>
              </a:rPr>
              <a:t>Devuelve una lista de respuestas, una por cada 'siguiente' o 'atiende'.</a:t>
            </a:r>
            <a:endParaRPr/>
          </a:p>
          <a:p>
            <a:r>
              <a:rPr lang="es-ES" sz="1800" b="1">
                <a:solidFill>
                  <a:srgbClr val="154360"/>
                </a:solidFill>
                <a:latin typeface="Segoe UI"/>
              </a:rPr>
              <a:t>Si la cola está vacía, la respuesta es 'VACIA'. Las órdenes 'llega' no aparecen en el resultado.</a:t>
            </a:r>
            <a:endParaRPr/>
          </a:p>
        </p:txBody>
      </p:sp>
      <p:sp>
        <p:nvSpPr>
          <p:cNvPr id="35" name="Turnos 35"/>
          <p:cNvSpPr/>
          <p:nvPr/>
        </p:nvSpPr>
        <p:spPr>
          <a:xfrm>
            <a:off x="520000" y="5300000"/>
            <a:ext cx="11160000" cy="72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650" b="0">
                <a:solidFill>
                  <a:srgbClr val="333333"/>
                </a:solidFill>
                <a:latin typeface="Segoe UI"/>
              </a:rPr>
              <a:t>Ejemplo mínimo: [('llega','Ana'), ('siguiente',''), ('atiende','')]</a:t>
            </a:r>
            <a:endParaRPr/>
          </a:p>
          <a:p>
            <a:r>
              <a:rPr lang="es-ES" sz="1650" b="0">
                <a:solidFill>
                  <a:srgbClr val="333333"/>
                </a:solidFill>
                <a:latin typeface="Segoe UI"/>
              </a:rPr>
              <a:t>Resultado: ['Ana', 'Ana']  ·  La consulta no había quitado a Ana.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ento 2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Acento 3"/>
          <p:cNvSpPr/>
          <p:nvPr/>
        </p:nvSpPr>
        <p:spPr>
          <a:xfrm>
            <a:off x="0" y="1170432"/>
            <a:ext cx="12192000" cy="1828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o 4"/>
          <p:cNvSpPr txBox="1"/>
          <p:nvPr/>
        </p:nvSpPr>
        <p:spPr>
          <a:xfrm>
            <a:off x="455000" y="180000"/>
            <a:ext cx="1128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3100" b="1">
                <a:solidFill>
                  <a:srgbClr val="FFFFFF"/>
                </a:solidFill>
                <a:latin typeface="Segoe UI"/>
              </a:rPr>
              <a:t>Ejemplo completo: llegan y esperan</a:t>
            </a:r>
            <a:endParaRPr/>
          </a:p>
        </p:txBody>
      </p:sp>
      <p:sp>
        <p:nvSpPr>
          <p:cNvPr id="5" name="Acento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o 7"/>
          <p:cNvSpPr txBox="1"/>
          <p:nvPr/>
        </p:nvSpPr>
        <p:spPr>
          <a:xfrm>
            <a:off x="480000" y="145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700" b="1">
                <a:solidFill>
                  <a:srgbClr val="1A5276"/>
                </a:solidFill>
                <a:latin typeface="Segoe UI"/>
              </a:rPr>
              <a:t>TRAZA · ÓRDENES 1–6</a:t>
            </a:r>
            <a:endParaRPr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3B3208D-19BF-9150-228E-75AB9176670B}"/>
              </a:ext>
            </a:extLst>
          </p:cNvPr>
          <p:cNvSpPr txBox="1"/>
          <p:nvPr/>
        </p:nvSpPr>
        <p:spPr>
          <a:xfrm>
            <a:off x="457200" y="6601968"/>
            <a:ext cx="27478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Algoritmos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y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Estructuras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de Datos |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Práctica</a:t>
            </a:r>
            <a:r>
              <a:rPr lang="es-ES"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4</a:t>
            </a:r>
            <a:endParaRPr sz="1000" b="0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0" name="Turnos 30"/>
          <p:cNvSpPr/>
          <p:nvPr/>
        </p:nvSpPr>
        <p:spPr>
          <a:xfrm>
            <a:off x="490000" y="1750000"/>
            <a:ext cx="11100000" cy="4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700" b="1">
                <a:solidFill>
                  <a:srgbClr val="1A5276"/>
                </a:solidFill>
                <a:latin typeface="Segoe UI"/>
              </a:rPr>
              <a:t>Cola: [frente ... final]. Resultado: respuestas acumuladas.</a:t>
            </a:r>
            <a:endParaRPr/>
          </a:p>
        </p:txBody>
      </p:sp>
      <p:sp>
        <p:nvSpPr>
          <p:cNvPr id="31" name="Turnos 31"/>
          <p:cNvSpPr/>
          <p:nvPr/>
        </p:nvSpPr>
        <p:spPr>
          <a:xfrm>
            <a:off x="530000" y="2230000"/>
            <a:ext cx="2900000" cy="45000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00" b="1">
                <a:solidFill>
                  <a:srgbClr val="FFFFFF"/>
                </a:solidFill>
                <a:latin typeface="Segoe UI"/>
              </a:rPr>
              <a:t>Orden recibida</a:t>
            </a:r>
            <a:endParaRPr/>
          </a:p>
        </p:txBody>
      </p:sp>
      <p:sp>
        <p:nvSpPr>
          <p:cNvPr id="32" name="Turnos 32"/>
          <p:cNvSpPr/>
          <p:nvPr/>
        </p:nvSpPr>
        <p:spPr>
          <a:xfrm>
            <a:off x="3530000" y="2230000"/>
            <a:ext cx="4100000" cy="45000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00" b="1">
                <a:solidFill>
                  <a:srgbClr val="FFFFFF"/>
                </a:solidFill>
                <a:latin typeface="Segoe UI"/>
              </a:rPr>
              <a:t>Cola después</a:t>
            </a:r>
            <a:endParaRPr/>
          </a:p>
        </p:txBody>
      </p:sp>
      <p:sp>
        <p:nvSpPr>
          <p:cNvPr id="33" name="Turnos 33"/>
          <p:cNvSpPr/>
          <p:nvPr/>
        </p:nvSpPr>
        <p:spPr>
          <a:xfrm>
            <a:off x="7730000" y="2230000"/>
            <a:ext cx="3880000" cy="45000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00" b="1">
                <a:solidFill>
                  <a:srgbClr val="FFFFFF"/>
                </a:solidFill>
                <a:latin typeface="Segoe UI"/>
              </a:rPr>
              <a:t>Resultado</a:t>
            </a:r>
            <a:endParaRPr/>
          </a:p>
        </p:txBody>
      </p:sp>
      <p:sp>
        <p:nvSpPr>
          <p:cNvPr id="40" name="Turnos 40"/>
          <p:cNvSpPr/>
          <p:nvPr/>
        </p:nvSpPr>
        <p:spPr>
          <a:xfrm>
            <a:off x="530000" y="2720000"/>
            <a:ext cx="2900000" cy="45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1  llega Ana</a:t>
            </a:r>
            <a:endParaRPr/>
          </a:p>
        </p:txBody>
      </p:sp>
      <p:sp>
        <p:nvSpPr>
          <p:cNvPr id="41" name="Turnos 41"/>
          <p:cNvSpPr/>
          <p:nvPr/>
        </p:nvSpPr>
        <p:spPr>
          <a:xfrm>
            <a:off x="3530000" y="2720000"/>
            <a:ext cx="4100000" cy="45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[Ana]</a:t>
            </a:r>
            <a:endParaRPr/>
          </a:p>
        </p:txBody>
      </p:sp>
      <p:sp>
        <p:nvSpPr>
          <p:cNvPr id="42" name="Turnos 42"/>
          <p:cNvSpPr/>
          <p:nvPr/>
        </p:nvSpPr>
        <p:spPr>
          <a:xfrm>
            <a:off x="7730000" y="2720000"/>
            <a:ext cx="3880000" cy="45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[]</a:t>
            </a:r>
            <a:endParaRPr/>
          </a:p>
        </p:txBody>
      </p:sp>
      <p:sp>
        <p:nvSpPr>
          <p:cNvPr id="43" name="Turnos 43"/>
          <p:cNvSpPr/>
          <p:nvPr/>
        </p:nvSpPr>
        <p:spPr>
          <a:xfrm>
            <a:off x="530000" y="3235000"/>
            <a:ext cx="2900000" cy="45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2  llega Luis</a:t>
            </a:r>
            <a:endParaRPr/>
          </a:p>
        </p:txBody>
      </p:sp>
      <p:sp>
        <p:nvSpPr>
          <p:cNvPr id="44" name="Turnos 44"/>
          <p:cNvSpPr/>
          <p:nvPr/>
        </p:nvSpPr>
        <p:spPr>
          <a:xfrm>
            <a:off x="3530000" y="3235000"/>
            <a:ext cx="4100000" cy="45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[Ana, Luis]</a:t>
            </a:r>
            <a:endParaRPr/>
          </a:p>
        </p:txBody>
      </p:sp>
      <p:sp>
        <p:nvSpPr>
          <p:cNvPr id="45" name="Turnos 45"/>
          <p:cNvSpPr/>
          <p:nvPr/>
        </p:nvSpPr>
        <p:spPr>
          <a:xfrm>
            <a:off x="7730000" y="3235000"/>
            <a:ext cx="3880000" cy="45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[]</a:t>
            </a:r>
            <a:endParaRPr/>
          </a:p>
        </p:txBody>
      </p:sp>
      <p:sp>
        <p:nvSpPr>
          <p:cNvPr id="46" name="Turnos 46"/>
          <p:cNvSpPr/>
          <p:nvPr/>
        </p:nvSpPr>
        <p:spPr>
          <a:xfrm>
            <a:off x="530000" y="3750000"/>
            <a:ext cx="2900000" cy="45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3  siguiente</a:t>
            </a:r>
            <a:endParaRPr/>
          </a:p>
        </p:txBody>
      </p:sp>
      <p:sp>
        <p:nvSpPr>
          <p:cNvPr id="47" name="Turnos 47"/>
          <p:cNvSpPr/>
          <p:nvPr/>
        </p:nvSpPr>
        <p:spPr>
          <a:xfrm>
            <a:off x="3530000" y="3750000"/>
            <a:ext cx="4100000" cy="45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[Ana, Luis]</a:t>
            </a:r>
            <a:endParaRPr/>
          </a:p>
        </p:txBody>
      </p:sp>
      <p:sp>
        <p:nvSpPr>
          <p:cNvPr id="48" name="Turnos 48"/>
          <p:cNvSpPr/>
          <p:nvPr/>
        </p:nvSpPr>
        <p:spPr>
          <a:xfrm>
            <a:off x="7730000" y="3750000"/>
            <a:ext cx="3880000" cy="45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[Ana]</a:t>
            </a:r>
            <a:endParaRPr/>
          </a:p>
        </p:txBody>
      </p:sp>
      <p:sp>
        <p:nvSpPr>
          <p:cNvPr id="49" name="Turnos 49"/>
          <p:cNvSpPr/>
          <p:nvPr/>
        </p:nvSpPr>
        <p:spPr>
          <a:xfrm>
            <a:off x="530000" y="4265000"/>
            <a:ext cx="2900000" cy="45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4  llega Eva</a:t>
            </a:r>
            <a:endParaRPr/>
          </a:p>
        </p:txBody>
      </p:sp>
      <p:sp>
        <p:nvSpPr>
          <p:cNvPr id="50" name="Turnos 50"/>
          <p:cNvSpPr/>
          <p:nvPr/>
        </p:nvSpPr>
        <p:spPr>
          <a:xfrm>
            <a:off x="3530000" y="4265000"/>
            <a:ext cx="4100000" cy="45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[Ana, Luis, Eva]</a:t>
            </a:r>
            <a:endParaRPr/>
          </a:p>
        </p:txBody>
      </p:sp>
      <p:sp>
        <p:nvSpPr>
          <p:cNvPr id="51" name="Turnos 51"/>
          <p:cNvSpPr/>
          <p:nvPr/>
        </p:nvSpPr>
        <p:spPr>
          <a:xfrm>
            <a:off x="7730000" y="4265000"/>
            <a:ext cx="3880000" cy="45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[Ana]</a:t>
            </a:r>
            <a:endParaRPr/>
          </a:p>
        </p:txBody>
      </p:sp>
      <p:sp>
        <p:nvSpPr>
          <p:cNvPr id="52" name="Turnos 52"/>
          <p:cNvSpPr/>
          <p:nvPr/>
        </p:nvSpPr>
        <p:spPr>
          <a:xfrm>
            <a:off x="530000" y="4780000"/>
            <a:ext cx="2900000" cy="45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5  atiende</a:t>
            </a:r>
            <a:endParaRPr/>
          </a:p>
        </p:txBody>
      </p:sp>
      <p:sp>
        <p:nvSpPr>
          <p:cNvPr id="53" name="Turnos 53"/>
          <p:cNvSpPr/>
          <p:nvPr/>
        </p:nvSpPr>
        <p:spPr>
          <a:xfrm>
            <a:off x="3530000" y="4780000"/>
            <a:ext cx="4100000" cy="45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[Luis, Eva]</a:t>
            </a:r>
            <a:endParaRPr/>
          </a:p>
        </p:txBody>
      </p:sp>
      <p:sp>
        <p:nvSpPr>
          <p:cNvPr id="54" name="Turnos 54"/>
          <p:cNvSpPr/>
          <p:nvPr/>
        </p:nvSpPr>
        <p:spPr>
          <a:xfrm>
            <a:off x="7730000" y="4780000"/>
            <a:ext cx="3880000" cy="45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[Ana, Ana]</a:t>
            </a:r>
            <a:endParaRPr/>
          </a:p>
        </p:txBody>
      </p:sp>
      <p:sp>
        <p:nvSpPr>
          <p:cNvPr id="55" name="Turnos 55"/>
          <p:cNvSpPr/>
          <p:nvPr/>
        </p:nvSpPr>
        <p:spPr>
          <a:xfrm>
            <a:off x="530000" y="5295000"/>
            <a:ext cx="2900000" cy="45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6  siguiente</a:t>
            </a:r>
            <a:endParaRPr/>
          </a:p>
        </p:txBody>
      </p:sp>
      <p:sp>
        <p:nvSpPr>
          <p:cNvPr id="56" name="Turnos 56"/>
          <p:cNvSpPr/>
          <p:nvPr/>
        </p:nvSpPr>
        <p:spPr>
          <a:xfrm>
            <a:off x="3530000" y="5295000"/>
            <a:ext cx="4100000" cy="45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[Luis, Eva]</a:t>
            </a:r>
            <a:endParaRPr/>
          </a:p>
        </p:txBody>
      </p:sp>
      <p:sp>
        <p:nvSpPr>
          <p:cNvPr id="57" name="Turnos 57"/>
          <p:cNvSpPr/>
          <p:nvPr/>
        </p:nvSpPr>
        <p:spPr>
          <a:xfrm>
            <a:off x="7730000" y="5295000"/>
            <a:ext cx="3880000" cy="45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 dirty="0">
                <a:solidFill>
                  <a:srgbClr val="333333"/>
                </a:solidFill>
                <a:latin typeface="Segoe UI"/>
              </a:rPr>
              <a:t>[Ana, Ana, Luis]</a:t>
            </a:r>
            <a:endParaRPr dirty="0"/>
          </a:p>
        </p:txBody>
      </p:sp>
      <p:sp>
        <p:nvSpPr>
          <p:cNvPr id="70" name="Turnos 70"/>
          <p:cNvSpPr/>
          <p:nvPr/>
        </p:nvSpPr>
        <p:spPr>
          <a:xfrm>
            <a:off x="520000" y="5940000"/>
            <a:ext cx="11160000" cy="40000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450" b="1">
                <a:solidFill>
                  <a:srgbClr val="154360"/>
                </a:solidFill>
                <a:latin typeface="Segoe UI"/>
              </a:rPr>
              <a:t>En la orden 3, siguiente devuelve Ana pero la cola permanece [Ana, Luis].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ento 2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Acento 3"/>
          <p:cNvSpPr/>
          <p:nvPr/>
        </p:nvSpPr>
        <p:spPr>
          <a:xfrm>
            <a:off x="0" y="1170432"/>
            <a:ext cx="12192000" cy="1828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o 4"/>
          <p:cNvSpPr txBox="1"/>
          <p:nvPr/>
        </p:nvSpPr>
        <p:spPr>
          <a:xfrm>
            <a:off x="455000" y="180000"/>
            <a:ext cx="1128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3100" b="1">
                <a:solidFill>
                  <a:srgbClr val="FFFFFF"/>
                </a:solidFill>
                <a:latin typeface="Segoe UI"/>
              </a:rPr>
              <a:t>Ejemplo completo: se vacía la cola</a:t>
            </a:r>
            <a:endParaRPr/>
          </a:p>
        </p:txBody>
      </p:sp>
      <p:sp>
        <p:nvSpPr>
          <p:cNvPr id="5" name="Acento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o 7"/>
          <p:cNvSpPr txBox="1"/>
          <p:nvPr/>
        </p:nvSpPr>
        <p:spPr>
          <a:xfrm>
            <a:off x="480000" y="145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700" b="1">
                <a:solidFill>
                  <a:srgbClr val="1A5276"/>
                </a:solidFill>
                <a:latin typeface="Segoe UI"/>
              </a:rPr>
              <a:t>TRAZA · ÓRDENES 7–11</a:t>
            </a:r>
            <a:endParaRPr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3B3208D-19BF-9150-228E-75AB9176670B}"/>
              </a:ext>
            </a:extLst>
          </p:cNvPr>
          <p:cNvSpPr txBox="1"/>
          <p:nvPr/>
        </p:nvSpPr>
        <p:spPr>
          <a:xfrm>
            <a:off x="457200" y="6601968"/>
            <a:ext cx="27478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Algoritmos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y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Estructuras</a:t>
            </a:r>
            <a:r>
              <a:rPr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de Datos | </a:t>
            </a:r>
            <a:r>
              <a:rPr sz="1000" b="0" i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Práctica</a:t>
            </a:r>
            <a:r>
              <a:rPr lang="es-ES" sz="10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4</a:t>
            </a:r>
            <a:endParaRPr sz="1000" b="0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0" name="Turnos 30"/>
          <p:cNvSpPr/>
          <p:nvPr/>
        </p:nvSpPr>
        <p:spPr>
          <a:xfrm>
            <a:off x="490000" y="1750000"/>
            <a:ext cx="11100000" cy="4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700" b="1">
                <a:solidFill>
                  <a:srgbClr val="1A5276"/>
                </a:solidFill>
                <a:latin typeface="Segoe UI"/>
              </a:rPr>
              <a:t>Continuamos desde la cola [Luis, Eva] y el resultado [Ana, Ana, Luis].</a:t>
            </a:r>
            <a:endParaRPr/>
          </a:p>
        </p:txBody>
      </p:sp>
      <p:sp>
        <p:nvSpPr>
          <p:cNvPr id="31" name="Turnos 31"/>
          <p:cNvSpPr/>
          <p:nvPr/>
        </p:nvSpPr>
        <p:spPr>
          <a:xfrm>
            <a:off x="530000" y="2230000"/>
            <a:ext cx="2900000" cy="45000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00" b="1">
                <a:solidFill>
                  <a:srgbClr val="FFFFFF"/>
                </a:solidFill>
                <a:latin typeface="Segoe UI"/>
              </a:rPr>
              <a:t>Orden recibida</a:t>
            </a:r>
            <a:endParaRPr/>
          </a:p>
        </p:txBody>
      </p:sp>
      <p:sp>
        <p:nvSpPr>
          <p:cNvPr id="32" name="Turnos 32"/>
          <p:cNvSpPr/>
          <p:nvPr/>
        </p:nvSpPr>
        <p:spPr>
          <a:xfrm>
            <a:off x="3530000" y="2230000"/>
            <a:ext cx="4100000" cy="45000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00" b="1">
                <a:solidFill>
                  <a:srgbClr val="FFFFFF"/>
                </a:solidFill>
                <a:latin typeface="Segoe UI"/>
              </a:rPr>
              <a:t>Cola después</a:t>
            </a:r>
            <a:endParaRPr/>
          </a:p>
        </p:txBody>
      </p:sp>
      <p:sp>
        <p:nvSpPr>
          <p:cNvPr id="33" name="Turnos 33"/>
          <p:cNvSpPr/>
          <p:nvPr/>
        </p:nvSpPr>
        <p:spPr>
          <a:xfrm>
            <a:off x="7730000" y="2276227"/>
            <a:ext cx="3880000" cy="357545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00" b="1" dirty="0">
                <a:solidFill>
                  <a:srgbClr val="FFFFFF"/>
                </a:solidFill>
                <a:latin typeface="Segoe UI"/>
              </a:rPr>
              <a:t>Resultado</a:t>
            </a:r>
            <a:endParaRPr dirty="0"/>
          </a:p>
        </p:txBody>
      </p:sp>
      <p:sp>
        <p:nvSpPr>
          <p:cNvPr id="40" name="Turnos 40"/>
          <p:cNvSpPr/>
          <p:nvPr/>
        </p:nvSpPr>
        <p:spPr>
          <a:xfrm>
            <a:off x="530000" y="2720000"/>
            <a:ext cx="2900000" cy="47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7  atiende</a:t>
            </a:r>
            <a:endParaRPr/>
          </a:p>
        </p:txBody>
      </p:sp>
      <p:sp>
        <p:nvSpPr>
          <p:cNvPr id="41" name="Turnos 41"/>
          <p:cNvSpPr/>
          <p:nvPr/>
        </p:nvSpPr>
        <p:spPr>
          <a:xfrm>
            <a:off x="3530000" y="2720000"/>
            <a:ext cx="4100000" cy="47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[Eva]</a:t>
            </a:r>
            <a:endParaRPr/>
          </a:p>
        </p:txBody>
      </p:sp>
      <p:sp>
        <p:nvSpPr>
          <p:cNvPr id="42" name="Turnos 42"/>
          <p:cNvSpPr/>
          <p:nvPr/>
        </p:nvSpPr>
        <p:spPr>
          <a:xfrm>
            <a:off x="7730000" y="2771971"/>
            <a:ext cx="3880000" cy="366058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dirty="0">
                <a:solidFill>
                  <a:srgbClr val="333333"/>
                </a:solidFill>
                <a:latin typeface="Segoe UI"/>
              </a:rPr>
              <a:t>[Ana, Ana, Luis, Luis]</a:t>
            </a:r>
            <a:endParaRPr lang="es-ES" sz="1600" dirty="0"/>
          </a:p>
        </p:txBody>
      </p:sp>
      <p:sp>
        <p:nvSpPr>
          <p:cNvPr id="43" name="Turnos 43"/>
          <p:cNvSpPr/>
          <p:nvPr/>
        </p:nvSpPr>
        <p:spPr>
          <a:xfrm>
            <a:off x="530000" y="3260000"/>
            <a:ext cx="2900000" cy="47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8  llega Paco</a:t>
            </a:r>
            <a:endParaRPr/>
          </a:p>
        </p:txBody>
      </p:sp>
      <p:sp>
        <p:nvSpPr>
          <p:cNvPr id="44" name="Turnos 44"/>
          <p:cNvSpPr/>
          <p:nvPr/>
        </p:nvSpPr>
        <p:spPr>
          <a:xfrm>
            <a:off x="3530000" y="3260000"/>
            <a:ext cx="4100000" cy="47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[Eva, Paco]</a:t>
            </a:r>
            <a:endParaRPr/>
          </a:p>
        </p:txBody>
      </p:sp>
      <p:sp>
        <p:nvSpPr>
          <p:cNvPr id="45" name="Turnos 45"/>
          <p:cNvSpPr/>
          <p:nvPr/>
        </p:nvSpPr>
        <p:spPr>
          <a:xfrm>
            <a:off x="7730000" y="3311971"/>
            <a:ext cx="3880000" cy="366058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dirty="0">
                <a:solidFill>
                  <a:srgbClr val="333333"/>
                </a:solidFill>
                <a:latin typeface="Segoe UI"/>
              </a:rPr>
              <a:t>[Ana, Ana, Luis, Luis]</a:t>
            </a:r>
            <a:endParaRPr lang="es-ES" sz="1600" dirty="0"/>
          </a:p>
        </p:txBody>
      </p:sp>
      <p:sp>
        <p:nvSpPr>
          <p:cNvPr id="46" name="Turnos 46"/>
          <p:cNvSpPr/>
          <p:nvPr/>
        </p:nvSpPr>
        <p:spPr>
          <a:xfrm>
            <a:off x="530000" y="3800000"/>
            <a:ext cx="2900000" cy="47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9  atiende</a:t>
            </a:r>
            <a:endParaRPr/>
          </a:p>
        </p:txBody>
      </p:sp>
      <p:sp>
        <p:nvSpPr>
          <p:cNvPr id="47" name="Turnos 47"/>
          <p:cNvSpPr/>
          <p:nvPr/>
        </p:nvSpPr>
        <p:spPr>
          <a:xfrm>
            <a:off x="3530000" y="3800000"/>
            <a:ext cx="4100000" cy="47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[Paco]</a:t>
            </a:r>
            <a:endParaRPr/>
          </a:p>
        </p:txBody>
      </p:sp>
      <p:sp>
        <p:nvSpPr>
          <p:cNvPr id="48" name="Turnos 48"/>
          <p:cNvSpPr/>
          <p:nvPr/>
        </p:nvSpPr>
        <p:spPr>
          <a:xfrm>
            <a:off x="7730000" y="3851971"/>
            <a:ext cx="3880000" cy="366058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dirty="0">
                <a:solidFill>
                  <a:srgbClr val="333333"/>
                </a:solidFill>
                <a:latin typeface="Segoe UI"/>
              </a:rPr>
              <a:t>[Ana, Ana, Luis, </a:t>
            </a:r>
            <a:r>
              <a:rPr lang="es-ES" sz="1550" dirty="0" err="1">
                <a:solidFill>
                  <a:srgbClr val="333333"/>
                </a:solidFill>
                <a:latin typeface="Segoe UI"/>
              </a:rPr>
              <a:t>Luis,Eva</a:t>
            </a:r>
            <a:r>
              <a:rPr lang="es-ES" sz="1550" dirty="0">
                <a:solidFill>
                  <a:srgbClr val="333333"/>
                </a:solidFill>
                <a:latin typeface="Segoe UI"/>
              </a:rPr>
              <a:t>]</a:t>
            </a:r>
            <a:endParaRPr lang="es-ES" sz="1600" dirty="0"/>
          </a:p>
        </p:txBody>
      </p:sp>
      <p:sp>
        <p:nvSpPr>
          <p:cNvPr id="49" name="Turnos 49"/>
          <p:cNvSpPr/>
          <p:nvPr/>
        </p:nvSpPr>
        <p:spPr>
          <a:xfrm>
            <a:off x="530000" y="4340000"/>
            <a:ext cx="2900000" cy="47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10 atiende</a:t>
            </a:r>
            <a:endParaRPr/>
          </a:p>
        </p:txBody>
      </p:sp>
      <p:sp>
        <p:nvSpPr>
          <p:cNvPr id="50" name="Turnos 50"/>
          <p:cNvSpPr/>
          <p:nvPr/>
        </p:nvSpPr>
        <p:spPr>
          <a:xfrm>
            <a:off x="3530000" y="4340000"/>
            <a:ext cx="4100000" cy="47000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[]</a:t>
            </a:r>
            <a:endParaRPr/>
          </a:p>
        </p:txBody>
      </p:sp>
      <p:sp>
        <p:nvSpPr>
          <p:cNvPr id="51" name="Turnos 51"/>
          <p:cNvSpPr/>
          <p:nvPr/>
        </p:nvSpPr>
        <p:spPr>
          <a:xfrm>
            <a:off x="7730000" y="4391971"/>
            <a:ext cx="3880000" cy="366058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dirty="0">
                <a:solidFill>
                  <a:srgbClr val="333333"/>
                </a:solidFill>
                <a:latin typeface="Segoe UI"/>
              </a:rPr>
              <a:t>[Ana, Ana, Luis, Luis, Paco]</a:t>
            </a:r>
            <a:endParaRPr lang="es-ES" sz="1600" dirty="0"/>
          </a:p>
        </p:txBody>
      </p:sp>
      <p:sp>
        <p:nvSpPr>
          <p:cNvPr id="52" name="Turnos 52"/>
          <p:cNvSpPr/>
          <p:nvPr/>
        </p:nvSpPr>
        <p:spPr>
          <a:xfrm>
            <a:off x="530000" y="4880000"/>
            <a:ext cx="2900000" cy="47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11 atiende</a:t>
            </a:r>
            <a:endParaRPr/>
          </a:p>
        </p:txBody>
      </p:sp>
      <p:sp>
        <p:nvSpPr>
          <p:cNvPr id="53" name="Turnos 53"/>
          <p:cNvSpPr/>
          <p:nvPr/>
        </p:nvSpPr>
        <p:spPr>
          <a:xfrm>
            <a:off x="3530000" y="4880000"/>
            <a:ext cx="4100000" cy="4700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b="0">
                <a:solidFill>
                  <a:srgbClr val="333333"/>
                </a:solidFill>
                <a:latin typeface="Segoe UI"/>
              </a:rPr>
              <a:t>[]</a:t>
            </a:r>
            <a:endParaRPr/>
          </a:p>
        </p:txBody>
      </p:sp>
      <p:sp>
        <p:nvSpPr>
          <p:cNvPr id="54" name="Turnos 54"/>
          <p:cNvSpPr/>
          <p:nvPr/>
        </p:nvSpPr>
        <p:spPr>
          <a:xfrm>
            <a:off x="7730000" y="4931971"/>
            <a:ext cx="3880000" cy="366058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550" dirty="0">
                <a:solidFill>
                  <a:srgbClr val="333333"/>
                </a:solidFill>
                <a:latin typeface="Segoe UI"/>
              </a:rPr>
              <a:t>[Ana, Ana, Luis, Luis, Paco, VACIA]</a:t>
            </a:r>
            <a:endParaRPr lang="es-ES" sz="1600" dirty="0"/>
          </a:p>
        </p:txBody>
      </p:sp>
      <p:sp>
        <p:nvSpPr>
          <p:cNvPr id="70" name="Turnos 70"/>
          <p:cNvSpPr/>
          <p:nvPr/>
        </p:nvSpPr>
        <p:spPr>
          <a:xfrm>
            <a:off x="520000" y="5660000"/>
            <a:ext cx="11160000" cy="62000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s-ES" sz="1700" b="1">
                <a:solidFill>
                  <a:srgbClr val="154360"/>
                </a:solidFill>
                <a:latin typeface="Segoe UI"/>
              </a:rPr>
              <a:t>Resultado final: ['Ana', 'Ana', 'Luis', 'Luis', 'Eva', 'Paco', 'VACIA']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2343</TotalTime>
  <Words>1107</Words>
  <Application>Microsoft Office PowerPoint</Application>
  <PresentationFormat>Personalizado</PresentationFormat>
  <Paragraphs>172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Pablo Reina</dc:creator>
  <cp:keywords/>
  <dc:description>generated using python-pptx</dc:description>
  <cp:lastModifiedBy>ANTONIO MANUEL GUTIERREZ FERNANDEZ</cp:lastModifiedBy>
  <cp:revision>83</cp:revision>
  <dcterms:created xsi:type="dcterms:W3CDTF">2013-01-27T09:14:16Z</dcterms:created>
  <dcterms:modified xsi:type="dcterms:W3CDTF">2026-10-20T07:19:49Z</dcterms:modified>
  <cp:category/>
</cp:coreProperties>
</file>